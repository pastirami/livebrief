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BREAKING NEWS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AI-ASSISTED EDITORIAL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840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C1913"/>
                </a:solidFill>
                <a:latin typeface="Georgia"/>
              </a:rPr>
              <a:t>Verify before
you publish.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331720"/>
            <a:ext cx="3611880" cy="14630"/>
          </a:xfrm>
          <a:prstGeom prst="rect">
            <a:avLst/>
          </a:prstGeom>
          <a:solidFill>
            <a:srgbClr val="A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651760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5C5445"/>
                </a:solidFill>
                <a:latin typeface="Georgia"/>
              </a:rPr>
              <a:t>Story decks. Article cards. Human verdicts.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429000"/>
            <a:ext cx="1481328" cy="256032"/>
          </a:xfrm>
          <a:prstGeom prst="rect">
            <a:avLst/>
          </a:prstGeom>
          <a:solidFill>
            <a:srgbClr val="F5F2EA"/>
          </a:solidFill>
          <a:ln w="12700">
            <a:solidFill>
              <a:srgbClr val="A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A41E1E"/>
                </a:solidFill>
                <a:latin typeface="Arial"/>
              </a:rPr>
              <a:t>LOCAL EMBEDDINGS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3429000"/>
            <a:ext cx="1234440" cy="256032"/>
          </a:xfrm>
          <a:prstGeom prst="rect">
            <a:avLst/>
          </a:prstGeom>
          <a:solidFill>
            <a:srgbClr val="F5F2EA"/>
          </a:solidFill>
          <a:ln w="12700">
            <a:solidFill>
              <a:srgbClr val="236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603B"/>
                </a:solidFill>
                <a:latin typeface="Arial"/>
              </a:rPr>
              <a:t>SOURCE CLAIMS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429000"/>
            <a:ext cx="1325880" cy="256032"/>
          </a:xfrm>
          <a:prstGeom prst="rect">
            <a:avLst/>
          </a:prstGeom>
          <a:solidFill>
            <a:srgbClr val="F5F2EA"/>
          </a:solidFill>
          <a:ln w="12700">
            <a:solidFill>
              <a:srgbClr val="8A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8A5F14"/>
                </a:solidFill>
                <a:latin typeface="Arial"/>
              </a:rPr>
              <a:t>EDITOR CONTROL</a:t>
            </a:r>
          </a:p>
        </p:txBody>
      </p:sp>
      <p:pic>
        <p:nvPicPr>
          <p:cNvPr id="13" name="Picture 12" descr="livebrief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43000"/>
            <a:ext cx="3977639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SUMMARIES CAN HIDE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>
                <a:solidFill>
                  <a:srgbClr val="1C1913"/>
                </a:solidFill>
                <a:latin typeface="Georgia"/>
              </a:rPr>
              <a:t>Breaking news is
a comparison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28316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C1913"/>
                </a:solidFill>
                <a:latin typeface="Arial"/>
              </a:rPr>
              <a:t>Counts disagree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12364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C1913"/>
                </a:solidFill>
                <a:latin typeface="Arial"/>
              </a:rPr>
              <a:t>Causes are unverified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96412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82696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C1913"/>
                </a:solidFill>
                <a:latin typeface="Arial"/>
              </a:rPr>
              <a:t>Timelines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143000"/>
            <a:ext cx="3383280" cy="777240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289304"/>
            <a:ext cx="822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>
                <a:solidFill>
                  <a:srgbClr val="A41E1E"/>
                </a:solidFill>
                <a:latin typeface="Arial"/>
              </a:rPr>
              <a:t>OFFICIAL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28016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C1913"/>
                </a:solidFill>
                <a:latin typeface="Georgia"/>
              </a:rPr>
              <a:t>2 injured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4071" y="1399032"/>
            <a:ext cx="621792" cy="256032"/>
          </a:xfrm>
          <a:prstGeom prst="rect">
            <a:avLst/>
          </a:prstGeom>
          <a:solidFill>
            <a:srgbClr val="F5F2EA"/>
          </a:solidFill>
          <a:ln w="12700">
            <a:solidFill>
              <a:srgbClr val="236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23603B"/>
                </a:solidFill>
                <a:latin typeface="Arial"/>
              </a:rPr>
              <a:t>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331720"/>
            <a:ext cx="3383280" cy="777240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478024"/>
            <a:ext cx="822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>
                <a:solidFill>
                  <a:srgbClr val="A41E1E"/>
                </a:solidFill>
                <a:latin typeface="Arial"/>
              </a:rPr>
              <a:t>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468879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C1913"/>
                </a:solidFill>
                <a:latin typeface="Georgia"/>
              </a:rPr>
              <a:t>6 injured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1" y="2587752"/>
            <a:ext cx="621792" cy="256032"/>
          </a:xfrm>
          <a:prstGeom prst="rect">
            <a:avLst/>
          </a:prstGeom>
          <a:solidFill>
            <a:srgbClr val="F5F2EA"/>
          </a:solidFill>
          <a:ln w="12700">
            <a:solidFill>
              <a:srgbClr val="8A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8A5F14"/>
                </a:solidFill>
                <a:latin typeface="Arial"/>
              </a:rPr>
              <a:t>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520440"/>
            <a:ext cx="3383280" cy="777240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666744"/>
            <a:ext cx="8229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 b="1">
                <a:solidFill>
                  <a:srgbClr val="A41E1E"/>
                </a:solidFill>
                <a:latin typeface="Arial"/>
              </a:rPr>
              <a:t>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6576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C1913"/>
                </a:solidFill>
                <a:latin typeface="Georgia"/>
              </a:rPr>
              <a:t>10+ unverified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34071" y="3776472"/>
            <a:ext cx="621792" cy="256032"/>
          </a:xfrm>
          <a:prstGeom prst="rect">
            <a:avLst/>
          </a:prstGeom>
          <a:solidFill>
            <a:srgbClr val="F5F2EA"/>
          </a:solidFill>
          <a:ln w="12700">
            <a:solidFill>
              <a:srgbClr val="A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A41E1E"/>
                </a:solidFill>
                <a:latin typeface="Arial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6344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A41E1E"/>
                </a:solidFill>
                <a:latin typeface="Georgia"/>
              </a:rPr>
              <a:t>LiveBrief keeps disagreement visible until a journalist decides.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PRODUCT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ONE URL BECOMES ONE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100" b="1">
                <a:solidFill>
                  <a:srgbClr val="1C1913"/>
                </a:solidFill>
                <a:latin typeface="Georgia"/>
              </a:rPr>
              <a:t>From source
to approved brief.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743200"/>
            <a:ext cx="2240280" cy="65836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53512"/>
            <a:ext cx="31089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9169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1913"/>
                </a:solidFill>
                <a:latin typeface="Georgia"/>
              </a:rPr>
              <a:t>Crawl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43200"/>
            <a:ext cx="2240280" cy="65836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953512"/>
            <a:ext cx="31089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9169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1913"/>
                </a:solidFill>
                <a:latin typeface="Georgia"/>
              </a:rPr>
              <a:t>Clean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743200"/>
            <a:ext cx="2240280" cy="65836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953512"/>
            <a:ext cx="31089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9169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1913"/>
                </a:solidFill>
                <a:latin typeface="Georgia"/>
              </a:rPr>
              <a:t>Route deck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749039"/>
            <a:ext cx="2240280" cy="65836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59352"/>
            <a:ext cx="31089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92277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1913"/>
                </a:solidFill>
                <a:latin typeface="Georgia"/>
              </a:rPr>
              <a:t>Review 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3749039"/>
            <a:ext cx="2240280" cy="65836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959352"/>
            <a:ext cx="310896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3048" y="392277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C1913"/>
                </a:solidFill>
                <a:latin typeface="Georgia"/>
              </a:rPr>
              <a:t>Compose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7223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C5445"/>
                </a:solidFill>
                <a:latin typeface="Arial"/>
              </a:rPr>
              <a:t>Local open-source embeddings group similar articles. No external embedding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DEMO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STORY DECKS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C1913"/>
                </a:solidFill>
                <a:latin typeface="Georgia"/>
              </a:rPr>
              <a:t>Similar articles
land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53996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80" b="0">
                <a:solidFill>
                  <a:srgbClr val="1C1913"/>
                </a:solidFill>
                <a:latin typeface="Arial"/>
              </a:rPr>
              <a:t>One deck = one 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1468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80" b="0">
                <a:solidFill>
                  <a:srgbClr val="1C1913"/>
                </a:solidFill>
                <a:latin typeface="Arial"/>
              </a:rPr>
              <a:t>One card = one article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8940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3522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80" b="0">
                <a:solidFill>
                  <a:srgbClr val="1C1913"/>
                </a:solidFill>
                <a:latin typeface="Arial"/>
              </a:rPr>
              <a:t>Routing animation shows the target</a:t>
            </a:r>
          </a:p>
        </p:txBody>
      </p:sp>
      <p:pic>
        <p:nvPicPr>
          <p:cNvPr id="14" name="Picture 13" descr="livebrief_board_4x3_board_525_5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914400"/>
            <a:ext cx="48006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ARTICLE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HUMAN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1C1913"/>
                </a:solidFill>
                <a:latin typeface="Georgia"/>
              </a:rPr>
              <a:t>Confidence is extraction certainty.
Risk is editorial caution.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71116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57400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C1913"/>
                </a:solidFill>
                <a:latin typeface="Arial"/>
              </a:rPr>
              <a:t>Approve: eligible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18588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04872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C1913"/>
                </a:solidFill>
                <a:latin typeface="Arial"/>
              </a:rPr>
              <a:t>Hold: returns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66060"/>
            <a:ext cx="1463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A41E1E"/>
                </a:solidFill>
                <a:latin typeface="Arial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752344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1C1913"/>
                </a:solidFill>
                <a:latin typeface="Arial"/>
              </a:rPr>
              <a:t>Discard: excluded</a:t>
            </a:r>
          </a:p>
        </p:txBody>
      </p:sp>
      <p:pic>
        <p:nvPicPr>
          <p:cNvPr id="14" name="Picture 13" descr="livebrief_card_4x3_card_525_5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68680"/>
            <a:ext cx="480060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FASTAPI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4206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C1913"/>
                </a:solidFill>
                <a:latin typeface="Georgia"/>
              </a:rPr>
              <a:t>Local embeddings
plus editorial safeguards.</a:t>
            </a:r>
          </a:p>
        </p:txBody>
      </p:sp>
      <p:pic>
        <p:nvPicPr>
          <p:cNvPr id="8" name="Picture 7" descr="livebrief_architecture_4x3_4x3_arch_869_3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57400"/>
            <a:ext cx="7955279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C1913"/>
                </a:solidFill>
                <a:latin typeface="Arial"/>
              </a:rPr>
              <a:t>LIVEBRIEF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760" y="1828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>
                <a:solidFill>
                  <a:srgbClr val="A41E1E"/>
                </a:solidFill>
                <a:latin typeface="Arial"/>
              </a:rPr>
              <a:t>WHY JOURNALISTS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8503920" cy="14630"/>
          </a:xfrm>
          <a:prstGeom prst="rect">
            <a:avLst/>
          </a:prstGeom>
          <a:solidFill>
            <a:srgbClr val="1C1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6446520"/>
            <a:ext cx="2743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5C5445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A41E1E"/>
                </a:solidFill>
                <a:latin typeface="Arial"/>
              </a:rPr>
              <a:t>FASTER WITHOUT GIVING UP JUDGMENT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74903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C1913"/>
                </a:solidFill>
                <a:latin typeface="Georgia"/>
              </a:rPr>
              <a:t>AI compares.
Journalists decide.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143000"/>
            <a:ext cx="3566160" cy="74980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128930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C1913"/>
                </a:solidFill>
                <a:latin typeface="Georgia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44168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C5445"/>
                </a:solidFill>
                <a:latin typeface="Arial"/>
              </a:rPr>
              <a:t>Sort sources into story decks.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350008"/>
            <a:ext cx="3566160" cy="74980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496312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C1913"/>
                </a:solidFill>
                <a:latin typeface="Georgia"/>
              </a:rPr>
              <a:t>Accountability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51176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C5445"/>
                </a:solidFill>
                <a:latin typeface="Arial"/>
              </a:rPr>
              <a:t>Trace every claim to source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557016"/>
            <a:ext cx="3566160" cy="749808"/>
          </a:xfrm>
          <a:prstGeom prst="rect">
            <a:avLst/>
          </a:prstGeom>
          <a:solidFill>
            <a:srgbClr val="FDFBF5"/>
          </a:solidFill>
          <a:ln w="12700">
            <a:solidFill>
              <a:srgbClr val="1C19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370332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C1913"/>
                </a:solidFill>
                <a:latin typeface="Georgia"/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75818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C5445"/>
                </a:solidFill>
                <a:latin typeface="Arial"/>
              </a:rPr>
              <a:t>Briefs use approved claims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74920"/>
            <a:ext cx="6675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A41E1E"/>
                </a:solidFill>
                <a:latin typeface="Georgia"/>
              </a:rPr>
              <a:t>A sharper verification desk for deadline news.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