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7a3d3324c7e34dc0" /><Relationship Type="http://schemas.openxmlformats.org/officeDocument/2006/relationships/extended-properties" Target="/docProps/app.xml" Id="Rfb17ddc3cf664359" /><Relationship Type="http://schemas.openxmlformats.org/officeDocument/2006/relationships/officeDocument" Target="/ppt/presentation.xml" Id="R6e677c567aaf4138" /></Relationships>
</file>

<file path=ppt/presentation.xml><?xml version="1.0" encoding="utf-8"?>
<p:presentation xmlns:p="http://schemas.openxmlformats.org/presentationml/2006/main">
  <p:sldMasterIdLst>
    <p:sldMasterId xmlns:r="http://schemas.openxmlformats.org/officeDocument/2006/relationships" id="2147483648" r:id="Rd915b55ddeca47ef"/>
  </p:sldMasterIdLst>
  <p:notesMasterIdLst>
    <p:notesMasterId xmlns:r="http://schemas.openxmlformats.org/officeDocument/2006/relationships" r:id="R263ee5e8525b4b40"/>
  </p:notesMasterIdLst>
  <p:sldIdLst>
    <p:sldId xmlns:r="http://schemas.openxmlformats.org/officeDocument/2006/relationships" id="256" r:id="R6c3ae4937f6142f1"/>
    <p:sldId xmlns:r="http://schemas.openxmlformats.org/officeDocument/2006/relationships" id="257" r:id="R273b75d2722747cb"/>
    <p:sldId xmlns:r="http://schemas.openxmlformats.org/officeDocument/2006/relationships" id="258" r:id="R5d6bed3617984c73"/>
    <p:sldId xmlns:r="http://schemas.openxmlformats.org/officeDocument/2006/relationships" id="259" r:id="R8a84e743d25f451a"/>
    <p:sldId xmlns:r="http://schemas.openxmlformats.org/officeDocument/2006/relationships" id="260" r:id="R32556b1973fe4708"/>
    <p:sldId xmlns:r="http://schemas.openxmlformats.org/officeDocument/2006/relationships" id="261" r:id="R6067ff29d90b4d82"/>
    <p:sldId xmlns:r="http://schemas.openxmlformats.org/officeDocument/2006/relationships" id="262" r:id="R3639a358b0ed4b64"/>
  </p:sldIdLst>
  <p:sldSz cx="12192000" cy="6858000"/>
  <p:notesSz cx="6858000" cy="9144000"/>
  <p:defaultTextStyle>
    <a:defPPr xmlns:a="http://schemas.openxmlformats.org/drawingml/2006/main">
      <a:defRPr lang="en-US"/>
    </a:defPPr>
    <a:lvl1pPr xmlns:a="http://schemas.openxmlformats.org/drawingml/2006/main" marL="0" indent="0" algn="l" defTabSz="914400">
      <a:defRPr sz="1800" kern="1200">
        <a:solidFill>
          <a:schemeClr val="tx1"/>
        </a:solidFill>
        <a:latin typeface="+mn-lt"/>
        <a:ea typeface="+mn-ea"/>
        <a:cs typeface="+mn-cs"/>
      </a:defRPr>
    </a:lvl1pPr>
    <a:lvl2pPr xmlns:a="http://schemas.openxmlformats.org/drawingml/2006/main" marL="457200" indent="0" algn="l" defTabSz="914400">
      <a:defRPr sz="1800" kern="1200">
        <a:solidFill>
          <a:schemeClr val="tx1"/>
        </a:solidFill>
        <a:latin typeface="+mn-lt"/>
        <a:ea typeface="+mn-ea"/>
        <a:cs typeface="+mn-cs"/>
      </a:defRPr>
    </a:lvl2pPr>
    <a:lvl3pPr xmlns:a="http://schemas.openxmlformats.org/drawingml/2006/main" marL="914400" indent="0" algn="l" defTabSz="914400">
      <a:defRPr sz="1800" kern="1200">
        <a:solidFill>
          <a:schemeClr val="tx1"/>
        </a:solidFill>
        <a:latin typeface="+mn-lt"/>
        <a:ea typeface="+mn-ea"/>
        <a:cs typeface="+mn-cs"/>
      </a:defRPr>
    </a:lvl3pPr>
    <a:lvl4pPr xmlns:a="http://schemas.openxmlformats.org/drawingml/2006/main" marL="1371600" indent="0" algn="l" defTabSz="914400">
      <a:defRPr sz="1800" kern="1200">
        <a:solidFill>
          <a:schemeClr val="tx1"/>
        </a:solidFill>
        <a:latin typeface="+mn-lt"/>
        <a:ea typeface="+mn-ea"/>
        <a:cs typeface="+mn-cs"/>
      </a:defRPr>
    </a:lvl4pPr>
    <a:lvl5pPr xmlns:a="http://schemas.openxmlformats.org/drawingml/2006/main" marL="1828800" indent="0" algn="l" defTabSz="914400">
      <a:defRPr sz="1800" kern="1200">
        <a:solidFill>
          <a:schemeClr val="tx1"/>
        </a:solidFill>
        <a:latin typeface="+mn-lt"/>
        <a:ea typeface="+mn-ea"/>
        <a:cs typeface="+mn-cs"/>
      </a:defRPr>
    </a:lvl5pPr>
    <a:lvl6pPr xmlns:a="http://schemas.openxmlformats.org/drawingml/2006/main" marL="2286000" indent="0" algn="l" defTabSz="914400">
      <a:defRPr sz="1800" kern="1200">
        <a:solidFill>
          <a:schemeClr val="tx1"/>
        </a:solidFill>
        <a:latin typeface="+mn-lt"/>
        <a:ea typeface="+mn-ea"/>
        <a:cs typeface="+mn-cs"/>
      </a:defRPr>
    </a:lvl6pPr>
    <a:lvl7pPr xmlns:a="http://schemas.openxmlformats.org/drawingml/2006/main" marL="2743200" indent="0" algn="l" defTabSz="914400">
      <a:defRPr sz="1800" kern="1200">
        <a:solidFill>
          <a:schemeClr val="tx1"/>
        </a:solidFill>
        <a:latin typeface="+mn-lt"/>
        <a:ea typeface="+mn-ea"/>
        <a:cs typeface="+mn-cs"/>
      </a:defRPr>
    </a:lvl7pPr>
    <a:lvl8pPr xmlns:a="http://schemas.openxmlformats.org/drawingml/2006/main" marL="3200400" indent="0" algn="l" defTabSz="914400">
      <a:defRPr sz="1800" kern="1200">
        <a:solidFill>
          <a:schemeClr val="tx1"/>
        </a:solidFill>
        <a:latin typeface="+mn-lt"/>
        <a:ea typeface="+mn-ea"/>
        <a:cs typeface="+mn-cs"/>
      </a:defRPr>
    </a:lvl8pPr>
    <a:lvl9pPr xmlns:a="http://schemas.openxmlformats.org/drawingml/2006/main" marL="3657600" indent="0" algn="l" defTabSz="914400">
      <a:defRPr sz="1800" kern="1200">
        <a:solidFill>
          <a:schemeClr val="tx1"/>
        </a:solidFill>
        <a:latin typeface="+mn-lt"/>
        <a:ea typeface="+mn-ea"/>
        <a:cs typeface="+mn-cs"/>
      </a:defRPr>
    </a:lvl9pPr>
  </p:defaultTextStyle>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c01c80b5a2574f51" /><Relationship Type="http://schemas.openxmlformats.org/officeDocument/2006/relationships/slideMaster" Target="/ppt/slideMasters/slideMaster1.xml" Id="Rd915b55ddeca47ef" /><Relationship Type="http://schemas.openxmlformats.org/officeDocument/2006/relationships/notesMaster" Target="/ppt/notesMasters/notesMaster1.xml" Id="R263ee5e8525b4b40" /><Relationship Type="http://schemas.openxmlformats.org/officeDocument/2006/relationships/presProps" Target="/ppt/presProps.xml" Id="Rcf585734a2d04b09" /><Relationship Type="http://schemas.openxmlformats.org/officeDocument/2006/relationships/tableStyles" Target="/ppt/tableStyles.xml" Id="Rcd09757e3dc845fe" /><Relationship Type="http://schemas.openxmlformats.org/officeDocument/2006/relationships/slide" Target="/ppt/slides/slide1.xml" Id="R6c3ae4937f6142f1" /><Relationship Type="http://schemas.openxmlformats.org/officeDocument/2006/relationships/slide" Target="/ppt/slides/slide2.xml" Id="R273b75d2722747cb" /><Relationship Type="http://schemas.openxmlformats.org/officeDocument/2006/relationships/slide" Target="/ppt/slides/slide3.xml" Id="R5d6bed3617984c73" /><Relationship Type="http://schemas.openxmlformats.org/officeDocument/2006/relationships/slide" Target="/ppt/slides/slide4.xml" Id="R8a84e743d25f451a" /><Relationship Type="http://schemas.openxmlformats.org/officeDocument/2006/relationships/slide" Target="/ppt/slides/slide5.xml" Id="R32556b1973fe4708" /><Relationship Type="http://schemas.openxmlformats.org/officeDocument/2006/relationships/slide" Target="/ppt/slides/slide6.xml" Id="R6067ff29d90b4d82" /><Relationship Type="http://schemas.openxmlformats.org/officeDocument/2006/relationships/slide" Target="/ppt/slides/slide7.xml" Id="R3639a358b0ed4b64"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373cb3ff6d064122"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e46b5718e91f414e" /><Relationship Type="http://schemas.openxmlformats.org/officeDocument/2006/relationships/notesMaster" Target="/ppt/notesMasters/notesMaster1.xml" Id="Ra80faf3812db4296" /></Relationships>
</file>

<file path=ppt/notesSlides/_rels/notesSlide2.xml.rels>&#65279;<?xml version="1.0" encoding="utf-8"?><Relationships xmlns="http://schemas.openxmlformats.org/package/2006/relationships"><Relationship Type="http://schemas.openxmlformats.org/officeDocument/2006/relationships/slide" Target="/ppt/slides/slide2.xml" Id="Rdfc9f27161e44274" /><Relationship Type="http://schemas.openxmlformats.org/officeDocument/2006/relationships/notesMaster" Target="/ppt/notesMasters/notesMaster1.xml" Id="R653a1ae7223f4331" /></Relationships>
</file>

<file path=ppt/notesSlides/_rels/notesSlide3.xml.rels>&#65279;<?xml version="1.0" encoding="utf-8"?><Relationships xmlns="http://schemas.openxmlformats.org/package/2006/relationships"><Relationship Type="http://schemas.openxmlformats.org/officeDocument/2006/relationships/slide" Target="/ppt/slides/slide3.xml" Id="R21b55a35d7c64c8c" /><Relationship Type="http://schemas.openxmlformats.org/officeDocument/2006/relationships/notesMaster" Target="/ppt/notesMasters/notesMaster1.xml" Id="R53d3de72dc30495d" /></Relationships>
</file>

<file path=ppt/notesSlides/_rels/notesSlide4.xml.rels>&#65279;<?xml version="1.0" encoding="utf-8"?><Relationships xmlns="http://schemas.openxmlformats.org/package/2006/relationships"><Relationship Type="http://schemas.openxmlformats.org/officeDocument/2006/relationships/slide" Target="/ppt/slides/slide4.xml" Id="Rc16171e6628c4852" /><Relationship Type="http://schemas.openxmlformats.org/officeDocument/2006/relationships/notesMaster" Target="/ppt/notesMasters/notesMaster1.xml" Id="Rd0104b9ec1154c0a" /></Relationships>
</file>

<file path=ppt/notesSlides/_rels/notesSlide5.xml.rels>&#65279;<?xml version="1.0" encoding="utf-8"?><Relationships xmlns="http://schemas.openxmlformats.org/package/2006/relationships"><Relationship Type="http://schemas.openxmlformats.org/officeDocument/2006/relationships/slide" Target="/ppt/slides/slide5.xml" Id="R0075d68f7e3e42f7" /><Relationship Type="http://schemas.openxmlformats.org/officeDocument/2006/relationships/notesMaster" Target="/ppt/notesMasters/notesMaster1.xml" Id="R312c3f71d7524615" /></Relationships>
</file>

<file path=ppt/notesSlides/_rels/notesSlide6.xml.rels>&#65279;<?xml version="1.0" encoding="utf-8"?><Relationships xmlns="http://schemas.openxmlformats.org/package/2006/relationships"><Relationship Type="http://schemas.openxmlformats.org/officeDocument/2006/relationships/slide" Target="/ppt/slides/slide6.xml" Id="R28f579e644f54d89" /><Relationship Type="http://schemas.openxmlformats.org/officeDocument/2006/relationships/notesMaster" Target="/ppt/notesMasters/notesMaster1.xml" Id="Rd04e3fb40ea94834" /></Relationships>
</file>

<file path=ppt/notesSlides/_rels/notesSlide7.xml.rels>&#65279;<?xml version="1.0" encoding="utf-8"?><Relationships xmlns="http://schemas.openxmlformats.org/package/2006/relationships"><Relationship Type="http://schemas.openxmlformats.org/officeDocument/2006/relationships/slide" Target="/ppt/slides/slide7.xml" Id="R2d34fcb5123b4eb9" /><Relationship Type="http://schemas.openxmlformats.org/officeDocument/2006/relationships/notesMaster" Target="/ppt/notesMasters/notesMaster1.xml" Id="Rff8966378c744f69"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Good afternoon. This is LiveBrief, an AI-assisted verification cockpit for breaking-news teams. When a story develops, the problem is not getting information. The problem is deciding which details are safe to publish while different sources are changing at different speeds. LiveBrief compares those reports, keeps the evidence attached, and allows only journalist-approved facts to enter the final brief.</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Imagine three reports arriving within minutes. One says eight people were injured. Another says twelve. A police statement says the figures are not yet verified. A journalist has to compare wording, timestamps, locations, and source authority under deadline pressure. A normal summarizer can hide that conflict inside fluent prose. LiveBrief does the opposite. It makes disagreement more visible, because uncertainty is not noise. In breaking news, uncertainty is editorial information.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workflow starts with public article URLs or pasted text. The backend safely extracts the article body, then uses structured AI output to identify individual claims and their supporting evidence. Related claims are grouped so that different values become easy to compare. Conflicts are flagged, but the system does not choose a winner. Finally, the journalist reviews each claim and decides what can move into the brief.</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is the core interaction. Instead of receiving one opaque AI summary, the editor sees a claim matrix. Every row answers four questions: what is being claimed, which source said it, what exact evidence supports it, and how risky it is to publish. Conflicting casualty counts or event times appear together, with a clear recommendation to verify before publishing. The editor can confirm, keep verifying, or ignore each claim. That creates a fast workflow without removing accountability.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Our safety model is deliberately simple. First, AI is used for extraction, not truth. Second, every AI-generated claim begins in a to-verify state. Third, the case title is never treated as evidence. And fourth, the final brief is assembled only from claims the journalist explicitly approved. During testing, we found that an AI-written draft could infer a fact from the title, so we removed that failure mode. The publication step is now deterministic and evidence-bound.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is not only a visual prototype. The FastAPI backend runs the complete flow. Eight automated tests cover the pipeline, API contracts, unsafe URL rejection, conflict detection, and hallucination prevention. We analyzed a real public Guardian and AFP article URL from the interface. The OpenAI request returned successfully, and the browser workflow completed with zero console errors. The result is a working end-to-end MVP with production-minded safeguards.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LiveBrief gives newsrooms the speed of AI without handing editorial judgment to AI. It turns scattered reports into visible claims, visible conflicts, and a brief that a human has actually approved. In a breaking-news environment, that means faster decisions, clearer accountability, and fewer confident mistakes. LiveBrief does not replace the journalist. It gives the journalist a better verification desk.</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88801f05c31f43fd"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7d8c9ec78aab4c51" /><Relationship Type="http://schemas.openxmlformats.org/officeDocument/2006/relationships/slideLayout" Target="/ppt/slideLayouts/slideLayout1.xml" Id="R1a0564f6bb2d46fc"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1a0564f6bb2d46fc"/>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4a1befbdb70b4527" /><Relationship Type="http://schemas.openxmlformats.org/officeDocument/2006/relationships/image" Target="/ppt/media/image.png" Id="R2629bbbc9ec349bb" /><Relationship Type="http://schemas.openxmlformats.org/officeDocument/2006/relationships/notesSlide" Target="/ppt/notesSlides/notesSlide1.xml" Id="R306c5525e2354b6c"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68f8776dcc04495d" /><Relationship Type="http://schemas.openxmlformats.org/officeDocument/2006/relationships/notesSlide" Target="/ppt/notesSlides/notesSlide2.xml" Id="R13ac2a974fa244dc"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ef92037bd9ec46d0" /><Relationship Type="http://schemas.openxmlformats.org/officeDocument/2006/relationships/image" Target="/ppt/media/image2.png" Id="R0ecd4ac4d95c4c39" /><Relationship Type="http://schemas.openxmlformats.org/officeDocument/2006/relationships/notesSlide" Target="/ppt/notesSlides/notesSlide3.xml" Id="R66e5faccacf343cb"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dbe3f9bfa6954cf8" /><Relationship Type="http://schemas.openxmlformats.org/officeDocument/2006/relationships/notesSlide" Target="/ppt/notesSlides/notesSlide4.xml" Id="R803f8bcae6e34010"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6cac43ea1d764c14" /><Relationship Type="http://schemas.openxmlformats.org/officeDocument/2006/relationships/notesSlide" Target="/ppt/notesSlides/notesSlide5.xml" Id="R62317cba1a3e4f64" /></Relationships>
</file>

<file path=ppt/slides/_rels/slide6.xml.rels>&#65279;<?xml version="1.0" encoding="utf-8"?><Relationships xmlns="http://schemas.openxmlformats.org/package/2006/relationships"><Relationship Type="http://schemas.openxmlformats.org/officeDocument/2006/relationships/slideLayout" Target="/ppt/slideLayouts/slideLayout1.xml" Id="Rb546e767595f4b8a" /><Relationship Type="http://schemas.openxmlformats.org/officeDocument/2006/relationships/notesSlide" Target="/ppt/notesSlides/notesSlide6.xml" Id="R97a5b27f36824c66" /></Relationships>
</file>

<file path=ppt/slides/_rels/slide7.xml.rels>&#65279;<?xml version="1.0" encoding="utf-8"?><Relationships xmlns="http://schemas.openxmlformats.org/package/2006/relationships"><Relationship Type="http://schemas.openxmlformats.org/officeDocument/2006/relationships/slideLayout" Target="/ppt/slideLayouts/slideLayout1.xml" Id="R04598aae86e94d3b" /><Relationship Type="http://schemas.openxmlformats.org/officeDocument/2006/relationships/notesSlide" Target="/ppt/notesSlides/notesSlide7.xml" Id="Rd3d8ff39d77d4da0" /></Relationships>
</file>

<file path=ppt/slides/slide1.xml><?xml version="1.0" encoding="utf-8"?>
<p:sld xmlns:p="http://schemas.openxmlformats.org/presentationml/2006/main">
  <p:cSld>
    <p:bg>
      <p:bgPr>
        <a:solidFill xmlns:a="http://schemas.openxmlformats.org/drawingml/2006/main">
          <a:srgbClr val="07131D"/>
        </a:solidFill>
      </p:bgPr>
    </p:bg>
    <p:spTree>
      <p:nvGrpSpPr>
        <p:cNvPr id="1" name=""/>
        <p:cNvGrpSpPr/>
        <p:nvPr/>
      </p:nvGrpSpPr>
      <p:grpSpPr>
        <a:xfrm xmlns:a="http://schemas.openxmlformats.org/drawingml/2006/main"/>
      </p:grpSpPr>
      <p:pic>
        <p:nvPicPr>
          <p:cNvPr id="10" name=""/>
          <p:cNvPicPr>
            <a:picLocks xmlns:a="http://schemas.openxmlformats.org/drawingml/2006/main" noChangeAspect="1"/>
          </p:cNvPicPr>
          <p:nvPr/>
        </p:nvPicPr>
        <p:blipFill>
          <a:blip xmlns:r="http://schemas.openxmlformats.org/officeDocument/2006/relationships" xmlns:a="http://schemas.openxmlformats.org/drawingml/2006/main" r:embed="R2629bbbc9ec349bb"/>
          <a:srcRect xmlns:a="http://schemas.openxmlformats.org/drawingml/2006/main" l="0" t="27" r="0" b="27"/>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261BDCA8-E34B-484A-BAD3-70BC54B71236}"/>
              </a:ext>
            </a:extLst>
          </p:cNvPr>
          <p:cNvSpPr>
            <a:spLocks xmlns:a="http://schemas.openxmlformats.org/drawingml/2006/main" noGrp="1"/>
          </p:cNvSpPr>
          <p:nvPr/>
        </p:nvSpPr>
        <p:spPr>
          <a:xfrm xmlns:a="http://schemas.openxmlformats.org/drawingml/2006/main">
            <a:off x="0" y="0"/>
            <a:ext cx="6191250" cy="6858000"/>
          </a:xfrm>
          <a:prstGeom xmlns:a="http://schemas.openxmlformats.org/drawingml/2006/main" prst="rect">
            <a:avLst/>
          </a:prstGeom>
          <a:solidFill xmlns:a="http://schemas.openxmlformats.org/drawingml/2006/main">
            <a:srgbClr val="07131D"/>
          </a:solidFill>
          <a:ln xmlns:a="http://schemas.openxmlformats.org/drawingml/2006/main" w="0">
            <a:solidFill>
              <a:srgbClr val="07131D"/>
            </a:solidFill>
            <a:prstDash val="solid"/>
          </a:ln>
        </p:spPr>
      </p:sp>
      <p:sp>
        <p:nvSpPr>
          <p:cNvPr id="3" name="">
            <a:extLst xmlns:a="http://schemas.openxmlformats.org/drawingml/2006/main">
              <a:ext uri="{FF2B5EF4-FFF2-40B4-BE49-F238E27FC236}">
                <a16:creationId xmlns:a16="http://schemas.microsoft.com/office/drawing/2014/main" id="{A5DB13B1-EC75-439A-B09F-0F896F891135}"/>
              </a:ext>
            </a:extLst>
          </p:cNvPr>
          <p:cNvSpPr>
            <a:spLocks xmlns:a="http://schemas.openxmlformats.org/drawingml/2006/main" noGrp="1"/>
          </p:cNvSpPr>
          <p:nvPr/>
        </p:nvSpPr>
        <p:spPr>
          <a:xfrm xmlns:a="http://schemas.openxmlformats.org/drawingml/2006/main">
            <a:off x="514350" y="533400"/>
            <a:ext cx="85725" cy="266700"/>
          </a:xfrm>
          <a:prstGeom xmlns:a="http://schemas.openxmlformats.org/drawingml/2006/main" prst="rect">
            <a:avLst/>
          </a:prstGeom>
          <a:solidFill xmlns:a="http://schemas.openxmlformats.org/drawingml/2006/main">
            <a:srgbClr val="25845F"/>
          </a:solidFill>
          <a:ln xmlns:a="http://schemas.openxmlformats.org/drawingml/2006/main" w="0">
            <a:solidFill>
              <a:srgbClr val="25845F"/>
            </a:solidFill>
            <a:prstDash val="solid"/>
          </a:ln>
        </p:spPr>
      </p:sp>
      <p:sp>
        <p:nvSpPr>
          <p:cNvPr id="4" name="">
            <a:extLst xmlns:a="http://schemas.openxmlformats.org/drawingml/2006/main">
              <a:ext uri="{FF2B5EF4-FFF2-40B4-BE49-F238E27FC236}">
                <a16:creationId xmlns:a16="http://schemas.microsoft.com/office/drawing/2014/main" id="{BB0E4270-4E14-4C15-9B9F-CBFB6C3AD7EE}"/>
              </a:ext>
            </a:extLst>
          </p:cNvPr>
          <p:cNvSpPr>
            <a:spLocks xmlns:a="http://schemas.openxmlformats.org/drawingml/2006/main" noGrp="1"/>
          </p:cNvSpPr>
          <p:nvPr/>
        </p:nvSpPr>
        <p:spPr>
          <a:xfrm xmlns:a="http://schemas.openxmlformats.org/drawingml/2006/main">
            <a:off x="781050" y="542925"/>
            <a:ext cx="40957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200" b="1">
                <a:solidFill>
                  <a:srgbClr val="A8CABB"/>
                </a:solidFill>
              </a:defRPr>
            </a:pPr>
            <a:r>
              <a:rPr sz="1200" b="1">
                <a:solidFill>
                  <a:srgbClr val="A8CABB"/>
                </a:solidFill>
              </a:rPr>
              <a:t>LIVE  /  VERIFICATION DESK</a:t>
            </a:r>
          </a:p>
        </p:txBody>
      </p:sp>
      <p:sp>
        <p:nvSpPr>
          <p:cNvPr id="5" name="">
            <a:extLst xmlns:a="http://schemas.openxmlformats.org/drawingml/2006/main">
              <a:ext uri="{FF2B5EF4-FFF2-40B4-BE49-F238E27FC236}">
                <a16:creationId xmlns:a16="http://schemas.microsoft.com/office/drawing/2014/main" id="{2E505B1F-A512-4773-B0BB-67F935C26E5F}"/>
              </a:ext>
            </a:extLst>
          </p:cNvPr>
          <p:cNvSpPr>
            <a:spLocks xmlns:a="http://schemas.openxmlformats.org/drawingml/2006/main" noGrp="1"/>
          </p:cNvSpPr>
          <p:nvPr/>
        </p:nvSpPr>
        <p:spPr>
          <a:xfrm xmlns:a="http://schemas.openxmlformats.org/drawingml/2006/main">
            <a:off x="514350" y="1685925"/>
            <a:ext cx="5238750" cy="914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6150" b="1">
                <a:solidFill>
                  <a:srgbClr val="FFFFFF"/>
                </a:solidFill>
              </a:defRPr>
            </a:pPr>
            <a:r>
              <a:rPr sz="6150" b="1">
                <a:solidFill>
                  <a:srgbClr val="FFFFFF"/>
                </a:solidFill>
              </a:rPr>
              <a:t>LiveBrief</a:t>
            </a:r>
          </a:p>
        </p:txBody>
      </p:sp>
      <p:sp>
        <p:nvSpPr>
          <p:cNvPr id="6" name="">
            <a:extLst xmlns:a="http://schemas.openxmlformats.org/drawingml/2006/main">
              <a:ext uri="{FF2B5EF4-FFF2-40B4-BE49-F238E27FC236}">
                <a16:creationId xmlns:a16="http://schemas.microsoft.com/office/drawing/2014/main" id="{6AA3119E-A045-4BC6-AD67-6D2F988A06AE}"/>
              </a:ext>
            </a:extLst>
          </p:cNvPr>
          <p:cNvSpPr>
            <a:spLocks xmlns:a="http://schemas.openxmlformats.org/drawingml/2006/main" noGrp="1"/>
          </p:cNvSpPr>
          <p:nvPr/>
        </p:nvSpPr>
        <p:spPr>
          <a:xfrm xmlns:a="http://schemas.openxmlformats.org/drawingml/2006/main">
            <a:off x="514350" y="2724150"/>
            <a:ext cx="5238750" cy="1238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3150" b="1">
                <a:solidFill>
                  <a:srgbClr val="FFFFFF"/>
                </a:solidFill>
              </a:defRPr>
            </a:pPr>
            <a:r>
              <a:rPr sz="3150" b="1">
                <a:solidFill>
                  <a:srgbClr val="FFFFFF"/>
                </a:solidFill>
              </a:rPr>
              <a:t>Verify breaking news</a:t>
            </a:r>
          </a:p>
          <a:p xmlns:a="http://schemas.openxmlformats.org/drawingml/2006/main">
            <a:pPr algn="l">
              <a:defRPr sz="3150" b="1">
                <a:solidFill>
                  <a:srgbClr val="FFFFFF"/>
                </a:solidFill>
              </a:defRPr>
            </a:pPr>
            <a:r>
              <a:rPr sz="3150" b="1">
                <a:solidFill>
                  <a:srgbClr val="FFFFFF"/>
                </a:solidFill>
              </a:rPr>
              <a:t>before you publish.</a:t>
            </a:r>
          </a:p>
        </p:txBody>
      </p:sp>
      <p:sp>
        <p:nvSpPr>
          <p:cNvPr id="7" name="">
            <a:extLst xmlns:a="http://schemas.openxmlformats.org/drawingml/2006/main">
              <a:ext uri="{FF2B5EF4-FFF2-40B4-BE49-F238E27FC236}">
                <a16:creationId xmlns:a16="http://schemas.microsoft.com/office/drawing/2014/main" id="{E10C9BA9-2A64-4084-8E09-4C2FC6F4CDDA}"/>
              </a:ext>
            </a:extLst>
          </p:cNvPr>
          <p:cNvSpPr>
            <a:spLocks xmlns:a="http://schemas.openxmlformats.org/drawingml/2006/main" noGrp="1"/>
          </p:cNvSpPr>
          <p:nvPr/>
        </p:nvSpPr>
        <p:spPr>
          <a:xfrm xmlns:a="http://schemas.openxmlformats.org/drawingml/2006/main">
            <a:off x="514350" y="4286250"/>
            <a:ext cx="1428750" cy="47625"/>
          </a:xfrm>
          <a:prstGeom xmlns:a="http://schemas.openxmlformats.org/drawingml/2006/main" prst="rect">
            <a:avLst/>
          </a:prstGeom>
          <a:solidFill xmlns:a="http://schemas.openxmlformats.org/drawingml/2006/main">
            <a:srgbClr val="F0642B"/>
          </a:solidFill>
          <a:ln xmlns:a="http://schemas.openxmlformats.org/drawingml/2006/main" w="0">
            <a:solidFill>
              <a:srgbClr val="F0642B"/>
            </a:solidFill>
            <a:prstDash val="solid"/>
          </a:ln>
        </p:spPr>
      </p:sp>
      <p:sp>
        <p:nvSpPr>
          <p:cNvPr id="8" name="">
            <a:extLst xmlns:a="http://schemas.openxmlformats.org/drawingml/2006/main">
              <a:ext uri="{FF2B5EF4-FFF2-40B4-BE49-F238E27FC236}">
                <a16:creationId xmlns:a16="http://schemas.microsoft.com/office/drawing/2014/main" id="{8BCAECBC-5D96-4022-8679-AB5F9BF49D10}"/>
              </a:ext>
            </a:extLst>
          </p:cNvPr>
          <p:cNvSpPr>
            <a:spLocks xmlns:a="http://schemas.openxmlformats.org/drawingml/2006/main" noGrp="1"/>
          </p:cNvSpPr>
          <p:nvPr/>
        </p:nvSpPr>
        <p:spPr>
          <a:xfrm xmlns:a="http://schemas.openxmlformats.org/drawingml/2006/main">
            <a:off x="514350" y="4552950"/>
            <a:ext cx="476250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725" b="0">
                <a:solidFill>
                  <a:srgbClr val="C7D4DC"/>
                </a:solidFill>
              </a:defRPr>
            </a:pPr>
            <a:r>
              <a:rPr sz="1725" b="0">
                <a:solidFill>
                  <a:srgbClr val="C7D4DC"/>
                </a:solidFill>
              </a:rPr>
              <a:t>AI-assisted source comparison with journalist-controlled approval.</a:t>
            </a:r>
          </a:p>
        </p:txBody>
      </p:sp>
      <p:sp>
        <p:nvSpPr>
          <p:cNvPr id="9" name="">
            <a:extLst xmlns:a="http://schemas.openxmlformats.org/drawingml/2006/main">
              <a:ext uri="{FF2B5EF4-FFF2-40B4-BE49-F238E27FC236}">
                <a16:creationId xmlns:a16="http://schemas.microsoft.com/office/drawing/2014/main" id="{46EA6E6E-DE37-4E78-8876-03484A79D925}"/>
              </a:ext>
            </a:extLst>
          </p:cNvPr>
          <p:cNvSpPr>
            <a:spLocks xmlns:a="http://schemas.openxmlformats.org/drawingml/2006/main" noGrp="1"/>
          </p:cNvSpPr>
          <p:nvPr/>
        </p:nvSpPr>
        <p:spPr>
          <a:xfrm xmlns:a="http://schemas.openxmlformats.org/drawingml/2006/main">
            <a:off x="514350" y="6238875"/>
            <a:ext cx="2667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975" b="1">
                <a:solidFill>
                  <a:srgbClr val="8FA3B1"/>
                </a:solidFill>
              </a:defRPr>
            </a:pPr>
            <a:r>
              <a:rPr sz="975" b="1">
                <a:solidFill>
                  <a:srgbClr val="8FA3B1"/>
                </a:solidFill>
              </a:rPr>
              <a:t>EPITECH HACKATHON</a:t>
            </a:r>
          </a:p>
        </p:txBody>
      </p:sp>
    </p:spTree>
    <p:extLst>
      <p:ext uri="{BB962C8B-B14F-4D97-AF65-F5344CB8AC3E}">
        <p14:creationId xmlns:p14="http://schemas.microsoft.com/office/powerpoint/2010/main" val="898016976"/>
      </p:ext>
    </p:extLst>
  </p:cSld>
</p:sld>
</file>

<file path=ppt/slides/slide2.xml><?xml version="1.0" encoding="utf-8"?>
<p:sld xmlns:p="http://schemas.openxmlformats.org/presentationml/2006/main">
  <p:cSld>
    <p:bg>
      <p:bgPr>
        <a:solidFill xmlns:a="http://schemas.openxmlformats.org/drawingml/2006/main">
          <a:srgbClr val="F5F7F8"/>
        </a:solidFill>
      </p:bgPr>
    </p:bg>
    <p:spTree>
      <p:nvGrpSpPr>
        <p:cNvPr id="1" name=""/>
        <p:cNvGrpSpPr/>
        <p:nvPr/>
      </p:nvGrpSpPr>
      <p:grpSpPr>
        <a:xfrm xmlns:a="http://schemas.openxmlformats.org/drawingml/2006/main"/>
      </p:grpSpPr>
      <p:sp>
        <p:nvSpPr>
          <p:cNvPr id="1" name="">
            <a:extLst xmlns:a="http://schemas.openxmlformats.org/drawingml/2006/main">
              <a:ext uri="{FF2B5EF4-FFF2-40B4-BE49-F238E27FC236}">
                <a16:creationId xmlns:a16="http://schemas.microsoft.com/office/drawing/2014/main" id="{2F923048-E538-4E71-92BA-C20838B58E87}"/>
              </a:ext>
            </a:extLst>
          </p:cNvPr>
          <p:cNvSpPr>
            <a:spLocks xmlns:a="http://schemas.openxmlformats.org/drawingml/2006/main" noGrp="1"/>
          </p:cNvSpPr>
          <p:nvPr/>
        </p:nvSpPr>
        <p:spPr>
          <a:xfrm xmlns:a="http://schemas.openxmlformats.org/drawingml/2006/main">
            <a:off x="514350" y="438150"/>
            <a:ext cx="76200" cy="209550"/>
          </a:xfrm>
          <a:prstGeom xmlns:a="http://schemas.openxmlformats.org/drawingml/2006/main" prst="rect">
            <a:avLst/>
          </a:prstGeom>
          <a:solidFill xmlns:a="http://schemas.openxmlformats.org/drawingml/2006/main">
            <a:srgbClr val="F0642B"/>
          </a:solidFill>
          <a:ln xmlns:a="http://schemas.openxmlformats.org/drawingml/2006/main" w="0">
            <a:solidFill>
              <a:srgbClr val="F0642B"/>
            </a:solidFill>
            <a:prstDash val="solid"/>
          </a:ln>
        </p:spPr>
      </p:sp>
      <p:sp>
        <p:nvSpPr>
          <p:cNvPr id="2" name="">
            <a:extLst xmlns:a="http://schemas.openxmlformats.org/drawingml/2006/main">
              <a:ext uri="{FF2B5EF4-FFF2-40B4-BE49-F238E27FC236}">
                <a16:creationId xmlns:a16="http://schemas.microsoft.com/office/drawing/2014/main" id="{A37C0791-26C1-41EB-B607-D381CB06FA46}"/>
              </a:ext>
            </a:extLst>
          </p:cNvPr>
          <p:cNvSpPr>
            <a:spLocks xmlns:a="http://schemas.openxmlformats.org/drawingml/2006/main" noGrp="1"/>
          </p:cNvSpPr>
          <p:nvPr/>
        </p:nvSpPr>
        <p:spPr>
          <a:xfrm xmlns:a="http://schemas.openxmlformats.org/drawingml/2006/main">
            <a:off x="723900" y="409575"/>
            <a:ext cx="49530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200" b="1">
                <a:solidFill>
                  <a:srgbClr val="F0642B"/>
                </a:solidFill>
              </a:defRPr>
            </a:pPr>
            <a:r>
              <a:rPr sz="1200" b="1">
                <a:solidFill>
                  <a:srgbClr val="F0642B"/>
                </a:solidFill>
              </a:rPr>
              <a:t>THE PROBLEM</a:t>
            </a:r>
          </a:p>
        </p:txBody>
      </p:sp>
      <p:sp>
        <p:nvSpPr>
          <p:cNvPr id="3" name="">
            <a:extLst xmlns:a="http://schemas.openxmlformats.org/drawingml/2006/main">
              <a:ext uri="{FF2B5EF4-FFF2-40B4-BE49-F238E27FC236}">
                <a16:creationId xmlns:a16="http://schemas.microsoft.com/office/drawing/2014/main" id="{E362717C-6A92-4833-9440-E13F5CC690CA}"/>
              </a:ext>
            </a:extLst>
          </p:cNvPr>
          <p:cNvSpPr>
            <a:spLocks xmlns:a="http://schemas.openxmlformats.org/drawingml/2006/main" noGrp="1"/>
          </p:cNvSpPr>
          <p:nvPr/>
        </p:nvSpPr>
        <p:spPr>
          <a:xfrm xmlns:a="http://schemas.openxmlformats.org/drawingml/2006/main">
            <a:off x="514350" y="990600"/>
            <a:ext cx="6381750" cy="1428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3750" b="1">
                <a:solidFill>
                  <a:srgbClr val="101820"/>
                </a:solidFill>
              </a:defRPr>
            </a:pPr>
            <a:r>
              <a:rPr sz="3750" b="1">
                <a:solidFill>
                  <a:srgbClr val="101820"/>
                </a:solidFill>
              </a:rPr>
              <a:t>Breaking news fails at</a:t>
            </a:r>
          </a:p>
          <a:p xmlns:a="http://schemas.openxmlformats.org/drawingml/2006/main">
            <a:pPr algn="l">
              <a:defRPr sz="3750" b="1">
                <a:solidFill>
                  <a:srgbClr val="101820"/>
                </a:solidFill>
              </a:defRPr>
            </a:pPr>
            <a:r>
              <a:rPr sz="3750" b="1">
                <a:solidFill>
                  <a:srgbClr val="101820"/>
                </a:solidFill>
              </a:rPr>
              <a:t>comparison, not collection.</a:t>
            </a:r>
          </a:p>
        </p:txBody>
      </p:sp>
      <p:sp>
        <p:nvSpPr>
          <p:cNvPr id="4" name="">
            <a:extLst xmlns:a="http://schemas.openxmlformats.org/drawingml/2006/main">
              <a:ext uri="{FF2B5EF4-FFF2-40B4-BE49-F238E27FC236}">
                <a16:creationId xmlns:a16="http://schemas.microsoft.com/office/drawing/2014/main" id="{B6C70008-D97E-463F-899A-F43DC50C4B5D}"/>
              </a:ext>
            </a:extLst>
          </p:cNvPr>
          <p:cNvSpPr>
            <a:spLocks xmlns:a="http://schemas.openxmlformats.org/drawingml/2006/main" noGrp="1"/>
          </p:cNvSpPr>
          <p:nvPr/>
        </p:nvSpPr>
        <p:spPr>
          <a:xfrm xmlns:a="http://schemas.openxmlformats.org/drawingml/2006/main">
            <a:off x="514350" y="2686050"/>
            <a:ext cx="60960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800" b="0">
                <a:solidFill>
                  <a:srgbClr val="65747F"/>
                </a:solidFill>
              </a:defRPr>
            </a:pPr>
            <a:r>
              <a:rPr sz="1800" b="0">
                <a:solidFill>
                  <a:srgbClr val="65747F"/>
                </a:solidFill>
              </a:rPr>
              <a:t>Three reports. One deadline. No shared version of the facts.</a:t>
            </a:r>
          </a:p>
        </p:txBody>
      </p:sp>
      <p:sp>
        <p:nvSpPr>
          <p:cNvPr id="5" name="">
            <a:extLst xmlns:a="http://schemas.openxmlformats.org/drawingml/2006/main">
              <a:ext uri="{FF2B5EF4-FFF2-40B4-BE49-F238E27FC236}">
                <a16:creationId xmlns:a16="http://schemas.microsoft.com/office/drawing/2014/main" id="{7F7C9D68-ADCF-4110-B4B3-3C58B0291441}"/>
              </a:ext>
            </a:extLst>
          </p:cNvPr>
          <p:cNvSpPr>
            <a:spLocks xmlns:a="http://schemas.openxmlformats.org/drawingml/2006/main" noGrp="1"/>
          </p:cNvSpPr>
          <p:nvPr/>
        </p:nvSpPr>
        <p:spPr>
          <a:xfrm xmlns:a="http://schemas.openxmlformats.org/drawingml/2006/main">
            <a:off x="514350" y="3638550"/>
            <a:ext cx="7477125" cy="685800"/>
          </a:xfrm>
          <a:prstGeom xmlns:a="http://schemas.openxmlformats.org/drawingml/2006/main" prst="rect">
            <a:avLst/>
          </a:prstGeom>
          <a:solidFill xmlns:a="http://schemas.openxmlformats.org/drawingml/2006/main">
            <a:srgbClr val="FFFFFF"/>
          </a:solidFill>
          <a:ln xmlns:a="http://schemas.openxmlformats.org/drawingml/2006/main" w="9525">
            <a:solidFill>
              <a:srgbClr val="C8D1D7"/>
            </a:solidFill>
            <a:prstDash val="solid"/>
          </a:ln>
        </p:spPr>
      </p:sp>
      <p:sp>
        <p:nvSpPr>
          <p:cNvPr id="6" name="">
            <a:extLst xmlns:a="http://schemas.openxmlformats.org/drawingml/2006/main">
              <a:ext uri="{FF2B5EF4-FFF2-40B4-BE49-F238E27FC236}">
                <a16:creationId xmlns:a16="http://schemas.microsoft.com/office/drawing/2014/main" id="{A8E3D59B-8B7E-42C1-BF50-A35C44D77639}"/>
              </a:ext>
            </a:extLst>
          </p:cNvPr>
          <p:cNvSpPr>
            <a:spLocks xmlns:a="http://schemas.openxmlformats.org/drawingml/2006/main" noGrp="1"/>
          </p:cNvSpPr>
          <p:nvPr/>
        </p:nvSpPr>
        <p:spPr>
          <a:xfrm xmlns:a="http://schemas.openxmlformats.org/drawingml/2006/main">
            <a:off x="514350" y="3638550"/>
            <a:ext cx="85725" cy="685800"/>
          </a:xfrm>
          <a:prstGeom xmlns:a="http://schemas.openxmlformats.org/drawingml/2006/main" prst="rect">
            <a:avLst/>
          </a:prstGeom>
          <a:solidFill xmlns:a="http://schemas.openxmlformats.org/drawingml/2006/main">
            <a:srgbClr val="2D6F9F"/>
          </a:solidFill>
          <a:ln xmlns:a="http://schemas.openxmlformats.org/drawingml/2006/main" w="0">
            <a:solidFill>
              <a:srgbClr val="2D6F9F"/>
            </a:solidFill>
            <a:prstDash val="solid"/>
          </a:ln>
        </p:spPr>
      </p:sp>
      <p:sp>
        <p:nvSpPr>
          <p:cNvPr id="7" name="">
            <a:extLst xmlns:a="http://schemas.openxmlformats.org/drawingml/2006/main">
              <a:ext uri="{FF2B5EF4-FFF2-40B4-BE49-F238E27FC236}">
                <a16:creationId xmlns:a16="http://schemas.microsoft.com/office/drawing/2014/main" id="{9FB772BA-C0F7-43EC-ABE4-E291BF4FAF45}"/>
              </a:ext>
            </a:extLst>
          </p:cNvPr>
          <p:cNvSpPr>
            <a:spLocks xmlns:a="http://schemas.openxmlformats.org/drawingml/2006/main" noGrp="1"/>
          </p:cNvSpPr>
          <p:nvPr/>
        </p:nvSpPr>
        <p:spPr>
          <a:xfrm xmlns:a="http://schemas.openxmlformats.org/drawingml/2006/main">
            <a:off x="819150" y="3781425"/>
            <a:ext cx="18097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975" b="1">
                <a:solidFill>
                  <a:srgbClr val="2D6F9F"/>
                </a:solidFill>
              </a:defRPr>
            </a:pPr>
            <a:r>
              <a:rPr sz="975" b="1">
                <a:solidFill>
                  <a:srgbClr val="2D6F9F"/>
                </a:solidFill>
              </a:rPr>
              <a:t>WIRE DESK</a:t>
            </a:r>
          </a:p>
        </p:txBody>
      </p:sp>
      <p:sp>
        <p:nvSpPr>
          <p:cNvPr id="8" name="">
            <a:extLst xmlns:a="http://schemas.openxmlformats.org/drawingml/2006/main">
              <a:ext uri="{FF2B5EF4-FFF2-40B4-BE49-F238E27FC236}">
                <a16:creationId xmlns:a16="http://schemas.microsoft.com/office/drawing/2014/main" id="{1A511D7C-762D-433D-AD5E-A32EE27A38E9}"/>
              </a:ext>
            </a:extLst>
          </p:cNvPr>
          <p:cNvSpPr>
            <a:spLocks xmlns:a="http://schemas.openxmlformats.org/drawingml/2006/main" noGrp="1"/>
          </p:cNvSpPr>
          <p:nvPr/>
        </p:nvSpPr>
        <p:spPr>
          <a:xfrm xmlns:a="http://schemas.openxmlformats.org/drawingml/2006/main">
            <a:off x="819150" y="4010025"/>
            <a:ext cx="4048125"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200" b="0">
                <a:solidFill>
                  <a:srgbClr val="65747F"/>
                </a:solidFill>
              </a:defRPr>
            </a:pPr>
            <a:r>
              <a:rPr sz="1200" b="0">
                <a:solidFill>
                  <a:srgbClr val="65747F"/>
                </a:solidFill>
              </a:rPr>
              <a:t>Officials reported a first count</a:t>
            </a:r>
          </a:p>
        </p:txBody>
      </p:sp>
      <p:sp>
        <p:nvSpPr>
          <p:cNvPr id="9" name="">
            <a:extLst xmlns:a="http://schemas.openxmlformats.org/drawingml/2006/main">
              <a:ext uri="{FF2B5EF4-FFF2-40B4-BE49-F238E27FC236}">
                <a16:creationId xmlns:a16="http://schemas.microsoft.com/office/drawing/2014/main" id="{3DF8FF64-64C4-4ED8-9B33-9AC1516471B9}"/>
              </a:ext>
            </a:extLst>
          </p:cNvPr>
          <p:cNvSpPr>
            <a:spLocks xmlns:a="http://schemas.openxmlformats.org/drawingml/2006/main" noGrp="1"/>
          </p:cNvSpPr>
          <p:nvPr/>
        </p:nvSpPr>
        <p:spPr>
          <a:xfrm xmlns:a="http://schemas.openxmlformats.org/drawingml/2006/main">
            <a:off x="5476875" y="3810000"/>
            <a:ext cx="219075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r">
              <a:defRPr sz="2025" b="1">
                <a:solidFill>
                  <a:srgbClr val="101820"/>
                </a:solidFill>
              </a:defRPr>
            </a:pPr>
            <a:r>
              <a:rPr sz="2025" b="1">
                <a:solidFill>
                  <a:srgbClr val="101820"/>
                </a:solidFill>
              </a:rPr>
              <a:t>8 injured</a:t>
            </a:r>
          </a:p>
        </p:txBody>
      </p:sp>
      <p:sp>
        <p:nvSpPr>
          <p:cNvPr id="10" name="">
            <a:extLst xmlns:a="http://schemas.openxmlformats.org/drawingml/2006/main">
              <a:ext uri="{FF2B5EF4-FFF2-40B4-BE49-F238E27FC236}">
                <a16:creationId xmlns:a16="http://schemas.microsoft.com/office/drawing/2014/main" id="{272F0DFB-367C-477D-9F5D-AC07C0BD78B4}"/>
              </a:ext>
            </a:extLst>
          </p:cNvPr>
          <p:cNvSpPr>
            <a:spLocks xmlns:a="http://schemas.openxmlformats.org/drawingml/2006/main" noGrp="1"/>
          </p:cNvSpPr>
          <p:nvPr/>
        </p:nvSpPr>
        <p:spPr>
          <a:xfrm xmlns:a="http://schemas.openxmlformats.org/drawingml/2006/main">
            <a:off x="514350" y="4514850"/>
            <a:ext cx="7477125" cy="685800"/>
          </a:xfrm>
          <a:prstGeom xmlns:a="http://schemas.openxmlformats.org/drawingml/2006/main" prst="rect">
            <a:avLst/>
          </a:prstGeom>
          <a:solidFill xmlns:a="http://schemas.openxmlformats.org/drawingml/2006/main">
            <a:srgbClr val="FFFFFF"/>
          </a:solidFill>
          <a:ln xmlns:a="http://schemas.openxmlformats.org/drawingml/2006/main" w="9525">
            <a:solidFill>
              <a:srgbClr val="C8D1D7"/>
            </a:solidFill>
            <a:prstDash val="solid"/>
          </a:ln>
        </p:spPr>
      </p:sp>
      <p:sp>
        <p:nvSpPr>
          <p:cNvPr id="11" name="">
            <a:extLst xmlns:a="http://schemas.openxmlformats.org/drawingml/2006/main">
              <a:ext uri="{FF2B5EF4-FFF2-40B4-BE49-F238E27FC236}">
                <a16:creationId xmlns:a16="http://schemas.microsoft.com/office/drawing/2014/main" id="{3C14B82E-767B-487D-BB7B-6EE6DCD92A09}"/>
              </a:ext>
            </a:extLst>
          </p:cNvPr>
          <p:cNvSpPr>
            <a:spLocks xmlns:a="http://schemas.openxmlformats.org/drawingml/2006/main" noGrp="1"/>
          </p:cNvSpPr>
          <p:nvPr/>
        </p:nvSpPr>
        <p:spPr>
          <a:xfrm xmlns:a="http://schemas.openxmlformats.org/drawingml/2006/main">
            <a:off x="514350" y="4514850"/>
            <a:ext cx="85725" cy="685800"/>
          </a:xfrm>
          <a:prstGeom xmlns:a="http://schemas.openxmlformats.org/drawingml/2006/main" prst="rect">
            <a:avLst/>
          </a:prstGeom>
          <a:solidFill xmlns:a="http://schemas.openxmlformats.org/drawingml/2006/main">
            <a:srgbClr val="F0642B"/>
          </a:solidFill>
          <a:ln xmlns:a="http://schemas.openxmlformats.org/drawingml/2006/main" w="0">
            <a:solidFill>
              <a:srgbClr val="F0642B"/>
            </a:solidFill>
            <a:prstDash val="solid"/>
          </a:ln>
        </p:spPr>
      </p:sp>
      <p:sp>
        <p:nvSpPr>
          <p:cNvPr id="12" name="">
            <a:extLst xmlns:a="http://schemas.openxmlformats.org/drawingml/2006/main">
              <a:ext uri="{FF2B5EF4-FFF2-40B4-BE49-F238E27FC236}">
                <a16:creationId xmlns:a16="http://schemas.microsoft.com/office/drawing/2014/main" id="{91A72839-FE60-4148-9987-547DF3124222}"/>
              </a:ext>
            </a:extLst>
          </p:cNvPr>
          <p:cNvSpPr>
            <a:spLocks xmlns:a="http://schemas.openxmlformats.org/drawingml/2006/main" noGrp="1"/>
          </p:cNvSpPr>
          <p:nvPr/>
        </p:nvSpPr>
        <p:spPr>
          <a:xfrm xmlns:a="http://schemas.openxmlformats.org/drawingml/2006/main">
            <a:off x="819150" y="4657725"/>
            <a:ext cx="18097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975" b="1">
                <a:solidFill>
                  <a:srgbClr val="F0642B"/>
                </a:solidFill>
              </a:defRPr>
            </a:pPr>
            <a:r>
              <a:rPr sz="975" b="1">
                <a:solidFill>
                  <a:srgbClr val="F0642B"/>
                </a:solidFill>
              </a:rPr>
              <a:t>LOCAL MEDIA</a:t>
            </a:r>
          </a:p>
        </p:txBody>
      </p:sp>
      <p:sp>
        <p:nvSpPr>
          <p:cNvPr id="13" name="">
            <a:extLst xmlns:a="http://schemas.openxmlformats.org/drawingml/2006/main">
              <a:ext uri="{FF2B5EF4-FFF2-40B4-BE49-F238E27FC236}">
                <a16:creationId xmlns:a16="http://schemas.microsoft.com/office/drawing/2014/main" id="{18893BEF-162C-4FE7-A456-1A5FB03E3D83}"/>
              </a:ext>
            </a:extLst>
          </p:cNvPr>
          <p:cNvSpPr>
            <a:spLocks xmlns:a="http://schemas.openxmlformats.org/drawingml/2006/main" noGrp="1"/>
          </p:cNvSpPr>
          <p:nvPr/>
        </p:nvSpPr>
        <p:spPr>
          <a:xfrm xmlns:a="http://schemas.openxmlformats.org/drawingml/2006/main">
            <a:off x="819150" y="4886325"/>
            <a:ext cx="4048125"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200" b="0">
                <a:solidFill>
                  <a:srgbClr val="65747F"/>
                </a:solidFill>
              </a:defRPr>
            </a:pPr>
            <a:r>
              <a:rPr sz="1200" b="0">
                <a:solidFill>
                  <a:srgbClr val="65747F"/>
                </a:solidFill>
              </a:rPr>
              <a:t>A second report raises the number</a:t>
            </a:r>
          </a:p>
        </p:txBody>
      </p:sp>
      <p:sp>
        <p:nvSpPr>
          <p:cNvPr id="14" name="">
            <a:extLst xmlns:a="http://schemas.openxmlformats.org/drawingml/2006/main">
              <a:ext uri="{FF2B5EF4-FFF2-40B4-BE49-F238E27FC236}">
                <a16:creationId xmlns:a16="http://schemas.microsoft.com/office/drawing/2014/main" id="{77656AF7-FF59-4038-9E5E-ACD55978B2A9}"/>
              </a:ext>
            </a:extLst>
          </p:cNvPr>
          <p:cNvSpPr>
            <a:spLocks xmlns:a="http://schemas.openxmlformats.org/drawingml/2006/main" noGrp="1"/>
          </p:cNvSpPr>
          <p:nvPr/>
        </p:nvSpPr>
        <p:spPr>
          <a:xfrm xmlns:a="http://schemas.openxmlformats.org/drawingml/2006/main">
            <a:off x="5476875" y="4686300"/>
            <a:ext cx="219075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r">
              <a:defRPr sz="2025" b="1">
                <a:solidFill>
                  <a:srgbClr val="101820"/>
                </a:solidFill>
              </a:defRPr>
            </a:pPr>
            <a:r>
              <a:rPr sz="2025" b="1">
                <a:solidFill>
                  <a:srgbClr val="101820"/>
                </a:solidFill>
              </a:rPr>
              <a:t>12 injured</a:t>
            </a:r>
          </a:p>
        </p:txBody>
      </p:sp>
      <p:sp>
        <p:nvSpPr>
          <p:cNvPr id="15" name="">
            <a:extLst xmlns:a="http://schemas.openxmlformats.org/drawingml/2006/main">
              <a:ext uri="{FF2B5EF4-FFF2-40B4-BE49-F238E27FC236}">
                <a16:creationId xmlns:a16="http://schemas.microsoft.com/office/drawing/2014/main" id="{4BF2E746-E48D-4011-A033-AA4C8421F2E8}"/>
              </a:ext>
            </a:extLst>
          </p:cNvPr>
          <p:cNvSpPr>
            <a:spLocks xmlns:a="http://schemas.openxmlformats.org/drawingml/2006/main" noGrp="1"/>
          </p:cNvSpPr>
          <p:nvPr/>
        </p:nvSpPr>
        <p:spPr>
          <a:xfrm xmlns:a="http://schemas.openxmlformats.org/drawingml/2006/main">
            <a:off x="514350" y="5391150"/>
            <a:ext cx="7477125" cy="685800"/>
          </a:xfrm>
          <a:prstGeom xmlns:a="http://schemas.openxmlformats.org/drawingml/2006/main" prst="rect">
            <a:avLst/>
          </a:prstGeom>
          <a:solidFill xmlns:a="http://schemas.openxmlformats.org/drawingml/2006/main">
            <a:srgbClr val="FFFFFF"/>
          </a:solidFill>
          <a:ln xmlns:a="http://schemas.openxmlformats.org/drawingml/2006/main" w="9525">
            <a:solidFill>
              <a:srgbClr val="C8D1D7"/>
            </a:solidFill>
            <a:prstDash val="solid"/>
          </a:ln>
        </p:spPr>
      </p:sp>
      <p:sp>
        <p:nvSpPr>
          <p:cNvPr id="16" name="">
            <a:extLst xmlns:a="http://schemas.openxmlformats.org/drawingml/2006/main">
              <a:ext uri="{FF2B5EF4-FFF2-40B4-BE49-F238E27FC236}">
                <a16:creationId xmlns:a16="http://schemas.microsoft.com/office/drawing/2014/main" id="{08441150-2863-4B9C-A7A0-720591439CA4}"/>
              </a:ext>
            </a:extLst>
          </p:cNvPr>
          <p:cNvSpPr>
            <a:spLocks xmlns:a="http://schemas.openxmlformats.org/drawingml/2006/main" noGrp="1"/>
          </p:cNvSpPr>
          <p:nvPr/>
        </p:nvSpPr>
        <p:spPr>
          <a:xfrm xmlns:a="http://schemas.openxmlformats.org/drawingml/2006/main">
            <a:off x="514350" y="5391150"/>
            <a:ext cx="85725" cy="685800"/>
          </a:xfrm>
          <a:prstGeom xmlns:a="http://schemas.openxmlformats.org/drawingml/2006/main" prst="rect">
            <a:avLst/>
          </a:prstGeom>
          <a:solidFill xmlns:a="http://schemas.openxmlformats.org/drawingml/2006/main">
            <a:srgbClr val="25845F"/>
          </a:solidFill>
          <a:ln xmlns:a="http://schemas.openxmlformats.org/drawingml/2006/main" w="0">
            <a:solidFill>
              <a:srgbClr val="25845F"/>
            </a:solidFill>
            <a:prstDash val="solid"/>
          </a:ln>
        </p:spPr>
      </p:sp>
      <p:sp>
        <p:nvSpPr>
          <p:cNvPr id="17" name="">
            <a:extLst xmlns:a="http://schemas.openxmlformats.org/drawingml/2006/main">
              <a:ext uri="{FF2B5EF4-FFF2-40B4-BE49-F238E27FC236}">
                <a16:creationId xmlns:a16="http://schemas.microsoft.com/office/drawing/2014/main" id="{B29B4217-06E5-4FD9-BF3C-19D9E843F0D3}"/>
              </a:ext>
            </a:extLst>
          </p:cNvPr>
          <p:cNvSpPr>
            <a:spLocks xmlns:a="http://schemas.openxmlformats.org/drawingml/2006/main" noGrp="1"/>
          </p:cNvSpPr>
          <p:nvPr/>
        </p:nvSpPr>
        <p:spPr>
          <a:xfrm xmlns:a="http://schemas.openxmlformats.org/drawingml/2006/main">
            <a:off x="819150" y="5534025"/>
            <a:ext cx="18097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975" b="1">
                <a:solidFill>
                  <a:srgbClr val="25845F"/>
                </a:solidFill>
              </a:defRPr>
            </a:pPr>
            <a:r>
              <a:rPr sz="975" b="1">
                <a:solidFill>
                  <a:srgbClr val="25845F"/>
                </a:solidFill>
              </a:rPr>
              <a:t>POLICE</a:t>
            </a:r>
          </a:p>
        </p:txBody>
      </p:sp>
      <p:sp>
        <p:nvSpPr>
          <p:cNvPr id="18" name="">
            <a:extLst xmlns:a="http://schemas.openxmlformats.org/drawingml/2006/main">
              <a:ext uri="{FF2B5EF4-FFF2-40B4-BE49-F238E27FC236}">
                <a16:creationId xmlns:a16="http://schemas.microsoft.com/office/drawing/2014/main" id="{48D8387A-1844-4199-8BE3-CC8946A45749}"/>
              </a:ext>
            </a:extLst>
          </p:cNvPr>
          <p:cNvSpPr>
            <a:spLocks xmlns:a="http://schemas.openxmlformats.org/drawingml/2006/main" noGrp="1"/>
          </p:cNvSpPr>
          <p:nvPr/>
        </p:nvSpPr>
        <p:spPr>
          <a:xfrm xmlns:a="http://schemas.openxmlformats.org/drawingml/2006/main">
            <a:off x="819150" y="5762625"/>
            <a:ext cx="4048125"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200" b="0">
                <a:solidFill>
                  <a:srgbClr val="65747F"/>
                </a:solidFill>
              </a:defRPr>
            </a:pPr>
            <a:r>
              <a:rPr sz="1200" b="0">
                <a:solidFill>
                  <a:srgbClr val="65747F"/>
                </a:solidFill>
              </a:rPr>
              <a:t>The primary source withholds confirmation</a:t>
            </a:r>
          </a:p>
        </p:txBody>
      </p:sp>
      <p:sp>
        <p:nvSpPr>
          <p:cNvPr id="19" name="">
            <a:extLst xmlns:a="http://schemas.openxmlformats.org/drawingml/2006/main">
              <a:ext uri="{FF2B5EF4-FFF2-40B4-BE49-F238E27FC236}">
                <a16:creationId xmlns:a16="http://schemas.microsoft.com/office/drawing/2014/main" id="{4FE72BE2-1C0A-4606-BDC3-4A4B0BDD01AB}"/>
              </a:ext>
            </a:extLst>
          </p:cNvPr>
          <p:cNvSpPr>
            <a:spLocks xmlns:a="http://schemas.openxmlformats.org/drawingml/2006/main" noGrp="1"/>
          </p:cNvSpPr>
          <p:nvPr/>
        </p:nvSpPr>
        <p:spPr>
          <a:xfrm xmlns:a="http://schemas.openxmlformats.org/drawingml/2006/main">
            <a:off x="5476875" y="5562600"/>
            <a:ext cx="219075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r">
              <a:defRPr sz="2025" b="1">
                <a:solidFill>
                  <a:srgbClr val="101820"/>
                </a:solidFill>
              </a:defRPr>
            </a:pPr>
            <a:r>
              <a:rPr sz="2025" b="1">
                <a:solidFill>
                  <a:srgbClr val="101820"/>
                </a:solidFill>
              </a:rPr>
              <a:t>Not verified</a:t>
            </a:r>
          </a:p>
        </p:txBody>
      </p:sp>
      <p:sp>
        <p:nvSpPr>
          <p:cNvPr id="20" name="">
            <a:extLst xmlns:a="http://schemas.openxmlformats.org/drawingml/2006/main">
              <a:ext uri="{FF2B5EF4-FFF2-40B4-BE49-F238E27FC236}">
                <a16:creationId xmlns:a16="http://schemas.microsoft.com/office/drawing/2014/main" id="{A0B5007C-7499-47A0-BF59-151CA5921671}"/>
              </a:ext>
            </a:extLst>
          </p:cNvPr>
          <p:cNvSpPr>
            <a:spLocks xmlns:a="http://schemas.openxmlformats.org/drawingml/2006/main" noGrp="1"/>
          </p:cNvSpPr>
          <p:nvPr/>
        </p:nvSpPr>
        <p:spPr>
          <a:xfrm xmlns:a="http://schemas.openxmlformats.org/drawingml/2006/main">
            <a:off x="8524875" y="1123950"/>
            <a:ext cx="3095625" cy="4953000"/>
          </a:xfrm>
          <a:prstGeom xmlns:a="http://schemas.openxmlformats.org/drawingml/2006/main" prst="rect">
            <a:avLst/>
          </a:prstGeom>
          <a:solidFill xmlns:a="http://schemas.openxmlformats.org/drawingml/2006/main">
            <a:srgbClr val="101820"/>
          </a:solidFill>
          <a:ln xmlns:a="http://schemas.openxmlformats.org/drawingml/2006/main" w="0">
            <a:solidFill>
              <a:srgbClr val="101820"/>
            </a:solidFill>
            <a:prstDash val="solid"/>
          </a:ln>
        </p:spPr>
      </p:sp>
      <p:sp>
        <p:nvSpPr>
          <p:cNvPr id="21" name="">
            <a:extLst xmlns:a="http://schemas.openxmlformats.org/drawingml/2006/main">
              <a:ext uri="{FF2B5EF4-FFF2-40B4-BE49-F238E27FC236}">
                <a16:creationId xmlns:a16="http://schemas.microsoft.com/office/drawing/2014/main" id="{CEBCE21D-BE3A-4B9B-8C33-42BC76996A1E}"/>
              </a:ext>
            </a:extLst>
          </p:cNvPr>
          <p:cNvSpPr>
            <a:spLocks xmlns:a="http://schemas.openxmlformats.org/drawingml/2006/main" noGrp="1"/>
          </p:cNvSpPr>
          <p:nvPr/>
        </p:nvSpPr>
        <p:spPr>
          <a:xfrm xmlns:a="http://schemas.openxmlformats.org/drawingml/2006/main">
            <a:off x="8905875" y="1619250"/>
            <a:ext cx="2381250" cy="14763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2700" b="1">
                <a:solidFill>
                  <a:srgbClr val="FFFFFF"/>
                </a:solidFill>
              </a:defRPr>
            </a:pPr>
            <a:r>
              <a:rPr sz="2700" b="1">
                <a:solidFill>
                  <a:srgbClr val="FFFFFF"/>
                </a:solidFill>
              </a:rPr>
              <a:t>A fluent summary can hide the disagreement.</a:t>
            </a:r>
          </a:p>
        </p:txBody>
      </p:sp>
      <p:sp>
        <p:nvSpPr>
          <p:cNvPr id="22" name="">
            <a:extLst xmlns:a="http://schemas.openxmlformats.org/drawingml/2006/main">
              <a:ext uri="{FF2B5EF4-FFF2-40B4-BE49-F238E27FC236}">
                <a16:creationId xmlns:a16="http://schemas.microsoft.com/office/drawing/2014/main" id="{B80DA360-3864-4097-9287-E6B57F8903DF}"/>
              </a:ext>
            </a:extLst>
          </p:cNvPr>
          <p:cNvSpPr>
            <a:spLocks xmlns:a="http://schemas.openxmlformats.org/drawingml/2006/main" noGrp="1"/>
          </p:cNvSpPr>
          <p:nvPr/>
        </p:nvSpPr>
        <p:spPr>
          <a:xfrm xmlns:a="http://schemas.openxmlformats.org/drawingml/2006/main">
            <a:off x="8905875" y="3714750"/>
            <a:ext cx="2333625" cy="1143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650" b="0">
                <a:solidFill>
                  <a:srgbClr val="C4D0D8"/>
                </a:solidFill>
              </a:defRPr>
            </a:pPr>
            <a:r>
              <a:rPr sz="1650" b="0">
                <a:solidFill>
                  <a:srgbClr val="C4D0D8"/>
                </a:solidFill>
              </a:rPr>
              <a:t>LiveBrief makes uncertainty visible before it becomes copy.</a:t>
            </a:r>
          </a:p>
        </p:txBody>
      </p:sp>
      <p:sp>
        <p:nvSpPr>
          <p:cNvPr id="23" name="">
            <a:extLst xmlns:a="http://schemas.openxmlformats.org/drawingml/2006/main">
              <a:ext uri="{FF2B5EF4-FFF2-40B4-BE49-F238E27FC236}">
                <a16:creationId xmlns:a16="http://schemas.microsoft.com/office/drawing/2014/main" id="{78299BB4-B4FA-43A9-A557-951887617D11}"/>
              </a:ext>
            </a:extLst>
          </p:cNvPr>
          <p:cNvSpPr>
            <a:spLocks xmlns:a="http://schemas.openxmlformats.org/drawingml/2006/main" noGrp="1"/>
          </p:cNvSpPr>
          <p:nvPr/>
        </p:nvSpPr>
        <p:spPr>
          <a:xfrm xmlns:a="http://schemas.openxmlformats.org/drawingml/2006/main">
            <a:off x="9715500" y="5000625"/>
            <a:ext cx="762000" cy="762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defRPr sz="5400" b="1">
                <a:solidFill>
                  <a:srgbClr val="F0642B"/>
                </a:solidFill>
              </a:defRPr>
            </a:pPr>
            <a:r>
              <a:rPr sz="5400" b="1">
                <a:solidFill>
                  <a:srgbClr val="F0642B"/>
                </a:solidFill>
              </a:rPr>
              <a:t>?</a:t>
            </a:r>
          </a:p>
        </p:txBody>
      </p:sp>
      <p:sp>
        <p:nvSpPr>
          <p:cNvPr id="24" name="">
            <a:extLst xmlns:a="http://schemas.openxmlformats.org/drawingml/2006/main">
              <a:ext uri="{FF2B5EF4-FFF2-40B4-BE49-F238E27FC236}">
                <a16:creationId xmlns:a16="http://schemas.microsoft.com/office/drawing/2014/main" id="{78CB71C5-A8AE-49C2-AB0B-A56DB4241EA1}"/>
              </a:ext>
            </a:extLst>
          </p:cNvPr>
          <p:cNvSpPr>
            <a:spLocks xmlns:a="http://schemas.openxmlformats.org/drawingml/2006/main" noGrp="1"/>
          </p:cNvSpPr>
          <p:nvPr/>
        </p:nvSpPr>
        <p:spPr>
          <a:xfrm xmlns:a="http://schemas.openxmlformats.org/drawingml/2006/main">
            <a:off x="514350" y="6515100"/>
            <a:ext cx="40957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900" b="1">
                <a:solidFill>
                  <a:srgbClr val="65747F"/>
                </a:solidFill>
              </a:defRPr>
            </a:pPr>
            <a:r>
              <a:rPr sz="900" b="1">
                <a:solidFill>
                  <a:srgbClr val="65747F"/>
                </a:solidFill>
              </a:rPr>
              <a:t>LIVEBRIEF  /  EPITECH HACKATHON</a:t>
            </a:r>
          </a:p>
        </p:txBody>
      </p:sp>
      <p:sp>
        <p:nvSpPr>
          <p:cNvPr id="25" name="">
            <a:extLst xmlns:a="http://schemas.openxmlformats.org/drawingml/2006/main">
              <a:ext uri="{FF2B5EF4-FFF2-40B4-BE49-F238E27FC236}">
                <a16:creationId xmlns:a16="http://schemas.microsoft.com/office/drawing/2014/main" id="{D4197FA8-A2BD-45EF-A0A4-2E9EF45792AB}"/>
              </a:ext>
            </a:extLst>
          </p:cNvPr>
          <p:cNvSpPr>
            <a:spLocks xmlns:a="http://schemas.openxmlformats.org/drawingml/2006/main" noGrp="1"/>
          </p:cNvSpPr>
          <p:nvPr/>
        </p:nvSpPr>
        <p:spPr>
          <a:xfrm xmlns:a="http://schemas.openxmlformats.org/drawingml/2006/main">
            <a:off x="11334750" y="6496050"/>
            <a:ext cx="3429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r">
              <a:defRPr sz="900" b="1">
                <a:solidFill>
                  <a:srgbClr val="65747F"/>
                </a:solidFill>
              </a:defRPr>
            </a:pPr>
            <a:r>
              <a:rPr sz="900" b="1">
                <a:solidFill>
                  <a:srgbClr val="65747F"/>
                </a:solidFill>
              </a:rPr>
              <a:t>02</a:t>
            </a:r>
          </a:p>
        </p:txBody>
      </p:sp>
    </p:spTree>
    <p:extLst>
      <p:ext uri="{BB962C8B-B14F-4D97-AF65-F5344CB8AC3E}">
        <p14:creationId xmlns:p14="http://schemas.microsoft.com/office/powerpoint/2010/main" val="1905913214"/>
      </p:ext>
    </p:extLst>
  </p:cSld>
</p:sld>
</file>

<file path=ppt/slides/slide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 name="">
            <a:extLst xmlns:a="http://schemas.openxmlformats.org/drawingml/2006/main">
              <a:ext uri="{FF2B5EF4-FFF2-40B4-BE49-F238E27FC236}">
                <a16:creationId xmlns:a16="http://schemas.microsoft.com/office/drawing/2014/main" id="{F811983A-8BA5-4FCA-8969-2AA80E8C8A75}"/>
              </a:ext>
            </a:extLst>
          </p:cNvPr>
          <p:cNvSpPr>
            <a:spLocks xmlns:a="http://schemas.openxmlformats.org/drawingml/2006/main" noGrp="1"/>
          </p:cNvSpPr>
          <p:nvPr/>
        </p:nvSpPr>
        <p:spPr>
          <a:xfrm xmlns:a="http://schemas.openxmlformats.org/drawingml/2006/main">
            <a:off x="514350" y="438150"/>
            <a:ext cx="76200" cy="209550"/>
          </a:xfrm>
          <a:prstGeom xmlns:a="http://schemas.openxmlformats.org/drawingml/2006/main" prst="rect">
            <a:avLst/>
          </a:prstGeom>
          <a:solidFill xmlns:a="http://schemas.openxmlformats.org/drawingml/2006/main">
            <a:srgbClr val="2D6F9F"/>
          </a:solidFill>
          <a:ln xmlns:a="http://schemas.openxmlformats.org/drawingml/2006/main" w="0">
            <a:solidFill>
              <a:srgbClr val="2D6F9F"/>
            </a:solidFill>
            <a:prstDash val="solid"/>
          </a:ln>
        </p:spPr>
      </p:sp>
      <p:sp>
        <p:nvSpPr>
          <p:cNvPr id="2" name="">
            <a:extLst xmlns:a="http://schemas.openxmlformats.org/drawingml/2006/main">
              <a:ext uri="{FF2B5EF4-FFF2-40B4-BE49-F238E27FC236}">
                <a16:creationId xmlns:a16="http://schemas.microsoft.com/office/drawing/2014/main" id="{CD59AC90-F371-4D71-9930-9DA5694B138A}"/>
              </a:ext>
            </a:extLst>
          </p:cNvPr>
          <p:cNvSpPr>
            <a:spLocks xmlns:a="http://schemas.openxmlformats.org/drawingml/2006/main" noGrp="1"/>
          </p:cNvSpPr>
          <p:nvPr/>
        </p:nvSpPr>
        <p:spPr>
          <a:xfrm xmlns:a="http://schemas.openxmlformats.org/drawingml/2006/main">
            <a:off x="723900" y="409575"/>
            <a:ext cx="49530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200" b="1">
                <a:solidFill>
                  <a:srgbClr val="2D6F9F"/>
                </a:solidFill>
              </a:defRPr>
            </a:pPr>
            <a:r>
              <a:rPr sz="1200" b="1">
                <a:solidFill>
                  <a:srgbClr val="2D6F9F"/>
                </a:solidFill>
              </a:rPr>
              <a:t>THE PRODUCT</a:t>
            </a:r>
          </a:p>
        </p:txBody>
      </p:sp>
      <p:sp>
        <p:nvSpPr>
          <p:cNvPr id="3" name="">
            <a:extLst xmlns:a="http://schemas.openxmlformats.org/drawingml/2006/main">
              <a:ext uri="{FF2B5EF4-FFF2-40B4-BE49-F238E27FC236}">
                <a16:creationId xmlns:a16="http://schemas.microsoft.com/office/drawing/2014/main" id="{63ECEB43-450F-4149-8868-A96B0FC640EA}"/>
              </a:ext>
            </a:extLst>
          </p:cNvPr>
          <p:cNvSpPr>
            <a:spLocks xmlns:a="http://schemas.openxmlformats.org/drawingml/2006/main" noGrp="1"/>
          </p:cNvSpPr>
          <p:nvPr/>
        </p:nvSpPr>
        <p:spPr>
          <a:xfrm xmlns:a="http://schemas.openxmlformats.org/drawingml/2006/main">
            <a:off x="514350" y="876300"/>
            <a:ext cx="1047750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3300" b="1">
                <a:solidFill>
                  <a:srgbClr val="101820"/>
                </a:solidFill>
              </a:defRPr>
            </a:pPr>
            <a:r>
              <a:rPr sz="3300" b="1">
                <a:solidFill>
                  <a:srgbClr val="101820"/>
                </a:solidFill>
              </a:rPr>
              <a:t>LiveBrief turns reports into an editorial decision flow.</a:t>
            </a:r>
          </a:p>
        </p:txBody>
      </p:sp>
      <p:sp>
        <p:nvSpPr>
          <p:cNvPr id="4" name="">
            <a:extLst xmlns:a="http://schemas.openxmlformats.org/drawingml/2006/main">
              <a:ext uri="{FF2B5EF4-FFF2-40B4-BE49-F238E27FC236}">
                <a16:creationId xmlns:a16="http://schemas.microsoft.com/office/drawing/2014/main" id="{EFC12064-8805-4685-9B07-957B22E4F8F8}"/>
              </a:ext>
            </a:extLst>
          </p:cNvPr>
          <p:cNvSpPr>
            <a:spLocks xmlns:a="http://schemas.openxmlformats.org/drawingml/2006/main" noGrp="1"/>
          </p:cNvSpPr>
          <p:nvPr/>
        </p:nvSpPr>
        <p:spPr>
          <a:xfrm xmlns:a="http://schemas.openxmlformats.org/drawingml/2006/main">
            <a:off x="514350" y="1562100"/>
            <a:ext cx="9048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575" b="0">
                <a:solidFill>
                  <a:srgbClr val="65747F"/>
                </a:solidFill>
              </a:defRPr>
            </a:pPr>
            <a:r>
              <a:rPr sz="1575" b="0">
                <a:solidFill>
                  <a:srgbClr val="65747F"/>
                </a:solidFill>
              </a:rPr>
              <a:t>The system highlights disagreement. The journalist decides what is publishable.</a:t>
            </a:r>
          </a:p>
        </p:txBody>
      </p:sp>
      <p:pic>
        <p:nvPicPr>
          <p:cNvPr id="12" name=""/>
          <p:cNvPicPr>
            <a:picLocks xmlns:a="http://schemas.openxmlformats.org/drawingml/2006/main" noChangeAspect="1"/>
          </p:cNvPicPr>
          <p:nvPr/>
        </p:nvPicPr>
        <p:blipFill>
          <a:blip xmlns:r="http://schemas.openxmlformats.org/officeDocument/2006/relationships" xmlns:a="http://schemas.openxmlformats.org/drawingml/2006/main" r:embed="R0ecd4ac4d95c4c39"/>
          <a:stretch xmlns:a="http://schemas.openxmlformats.org/drawingml/2006/main"/>
        </p:blipFill>
        <p:spPr>
          <a:xfrm xmlns:a="http://schemas.openxmlformats.org/drawingml/2006/main">
            <a:off x="2541889" y="2076450"/>
            <a:ext cx="7108221" cy="4000500"/>
          </a:xfrm>
          <a:prstGeom xmlns:a="http://schemas.openxmlformats.org/drawingml/2006/main" prst="rect">
            <a:avLst/>
          </a:prstGeom>
        </p:spPr>
      </p:pic>
      <p:sp>
        <p:nvSpPr>
          <p:cNvPr id="6" name="">
            <a:extLst xmlns:a="http://schemas.openxmlformats.org/drawingml/2006/main">
              <a:ext uri="{FF2B5EF4-FFF2-40B4-BE49-F238E27FC236}">
                <a16:creationId xmlns:a16="http://schemas.microsoft.com/office/drawing/2014/main" id="{9DBE5C79-8542-4A60-9EDC-88251C9DF0B3}"/>
              </a:ext>
            </a:extLst>
          </p:cNvPr>
          <p:cNvSpPr>
            <a:spLocks xmlns:a="http://schemas.openxmlformats.org/drawingml/2006/main" noGrp="1"/>
          </p:cNvSpPr>
          <p:nvPr/>
        </p:nvSpPr>
        <p:spPr>
          <a:xfrm xmlns:a="http://schemas.openxmlformats.org/drawingml/2006/main">
            <a:off x="514350" y="6515100"/>
            <a:ext cx="40957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900" b="1">
                <a:solidFill>
                  <a:srgbClr val="65747F"/>
                </a:solidFill>
              </a:defRPr>
            </a:pPr>
            <a:r>
              <a:rPr sz="900" b="1">
                <a:solidFill>
                  <a:srgbClr val="65747F"/>
                </a:solidFill>
              </a:rPr>
              <a:t>LIVEBRIEF  /  EPITECH HACKATHON</a:t>
            </a:r>
          </a:p>
        </p:txBody>
      </p:sp>
      <p:sp>
        <p:nvSpPr>
          <p:cNvPr id="7" name="">
            <a:extLst xmlns:a="http://schemas.openxmlformats.org/drawingml/2006/main">
              <a:ext uri="{FF2B5EF4-FFF2-40B4-BE49-F238E27FC236}">
                <a16:creationId xmlns:a16="http://schemas.microsoft.com/office/drawing/2014/main" id="{7EB14380-D22E-46B3-8728-79B628FCFA70}"/>
              </a:ext>
            </a:extLst>
          </p:cNvPr>
          <p:cNvSpPr>
            <a:spLocks xmlns:a="http://schemas.openxmlformats.org/drawingml/2006/main" noGrp="1"/>
          </p:cNvSpPr>
          <p:nvPr/>
        </p:nvSpPr>
        <p:spPr>
          <a:xfrm xmlns:a="http://schemas.openxmlformats.org/drawingml/2006/main">
            <a:off x="11334750" y="6496050"/>
            <a:ext cx="3429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r">
              <a:defRPr sz="900" b="1">
                <a:solidFill>
                  <a:srgbClr val="65747F"/>
                </a:solidFill>
              </a:defRPr>
            </a:pPr>
            <a:r>
              <a:rPr sz="900" b="1">
                <a:solidFill>
                  <a:srgbClr val="65747F"/>
                </a:solidFill>
              </a:rPr>
              <a:t>03</a:t>
            </a:r>
          </a:p>
        </p:txBody>
      </p:sp>
    </p:spTree>
    <p:extLst>
      <p:ext uri="{BB962C8B-B14F-4D97-AF65-F5344CB8AC3E}">
        <p14:creationId xmlns:p14="http://schemas.microsoft.com/office/powerpoint/2010/main" val="955991289"/>
      </p:ext>
    </p:extLst>
  </p:cSld>
</p:sld>
</file>

<file path=ppt/slides/slide4.xml><?xml version="1.0" encoding="utf-8"?>
<p:sld xmlns:p="http://schemas.openxmlformats.org/presentationml/2006/main">
  <p:cSld>
    <p:bg>
      <p:bgPr>
        <a:solidFill xmlns:a="http://schemas.openxmlformats.org/drawingml/2006/main">
          <a:srgbClr val="07131D"/>
        </a:solidFill>
      </p:bgPr>
    </p:bg>
    <p:spTree>
      <p:nvGrpSpPr>
        <p:cNvPr id="1" name=""/>
        <p:cNvGrpSpPr/>
        <p:nvPr/>
      </p:nvGrpSpPr>
      <p:grpSpPr>
        <a:xfrm xmlns:a="http://schemas.openxmlformats.org/drawingml/2006/main"/>
      </p:grpSpPr>
      <p:sp>
        <p:nvSpPr>
          <p:cNvPr id="1" name="">
            <a:extLst xmlns:a="http://schemas.openxmlformats.org/drawingml/2006/main">
              <a:ext uri="{FF2B5EF4-FFF2-40B4-BE49-F238E27FC236}">
                <a16:creationId xmlns:a16="http://schemas.microsoft.com/office/drawing/2014/main" id="{CB20369E-BF60-4928-BC58-0175062770FF}"/>
              </a:ext>
            </a:extLst>
          </p:cNvPr>
          <p:cNvSpPr>
            <a:spLocks xmlns:a="http://schemas.openxmlformats.org/drawingml/2006/main" noGrp="1"/>
          </p:cNvSpPr>
          <p:nvPr/>
        </p:nvSpPr>
        <p:spPr>
          <a:xfrm xmlns:a="http://schemas.openxmlformats.org/drawingml/2006/main">
            <a:off x="514350" y="438150"/>
            <a:ext cx="76200" cy="209550"/>
          </a:xfrm>
          <a:prstGeom xmlns:a="http://schemas.openxmlformats.org/drawingml/2006/main" prst="rect">
            <a:avLst/>
          </a:prstGeom>
          <a:solidFill xmlns:a="http://schemas.openxmlformats.org/drawingml/2006/main">
            <a:srgbClr val="25845F"/>
          </a:solidFill>
          <a:ln xmlns:a="http://schemas.openxmlformats.org/drawingml/2006/main" w="0">
            <a:solidFill>
              <a:srgbClr val="25845F"/>
            </a:solidFill>
            <a:prstDash val="solid"/>
          </a:ln>
        </p:spPr>
      </p:sp>
      <p:sp>
        <p:nvSpPr>
          <p:cNvPr id="2" name="">
            <a:extLst xmlns:a="http://schemas.openxmlformats.org/drawingml/2006/main">
              <a:ext uri="{FF2B5EF4-FFF2-40B4-BE49-F238E27FC236}">
                <a16:creationId xmlns:a16="http://schemas.microsoft.com/office/drawing/2014/main" id="{E7FF84E9-9B9A-43B3-A426-5CB0366AD93D}"/>
              </a:ext>
            </a:extLst>
          </p:cNvPr>
          <p:cNvSpPr>
            <a:spLocks xmlns:a="http://schemas.openxmlformats.org/drawingml/2006/main" noGrp="1"/>
          </p:cNvSpPr>
          <p:nvPr/>
        </p:nvSpPr>
        <p:spPr>
          <a:xfrm xmlns:a="http://schemas.openxmlformats.org/drawingml/2006/main">
            <a:off x="723900" y="409575"/>
            <a:ext cx="49530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200" b="1">
                <a:solidFill>
                  <a:srgbClr val="25845F"/>
                </a:solidFill>
              </a:defRPr>
            </a:pPr>
            <a:r>
              <a:rPr sz="1200" b="1">
                <a:solidFill>
                  <a:srgbClr val="25845F"/>
                </a:solidFill>
              </a:rPr>
              <a:t>THE EXPERIENCE</a:t>
            </a:r>
          </a:p>
        </p:txBody>
      </p:sp>
      <p:sp>
        <p:nvSpPr>
          <p:cNvPr id="3" name="">
            <a:extLst xmlns:a="http://schemas.openxmlformats.org/drawingml/2006/main">
              <a:ext uri="{FF2B5EF4-FFF2-40B4-BE49-F238E27FC236}">
                <a16:creationId xmlns:a16="http://schemas.microsoft.com/office/drawing/2014/main" id="{4CA12836-32FA-4899-AD4E-7DF016C072AD}"/>
              </a:ext>
            </a:extLst>
          </p:cNvPr>
          <p:cNvSpPr>
            <a:spLocks xmlns:a="http://schemas.openxmlformats.org/drawingml/2006/main" noGrp="1"/>
          </p:cNvSpPr>
          <p:nvPr/>
        </p:nvSpPr>
        <p:spPr>
          <a:xfrm xmlns:a="http://schemas.openxmlformats.org/drawingml/2006/main">
            <a:off x="514350" y="866775"/>
            <a:ext cx="723900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3600" b="1">
                <a:solidFill>
                  <a:srgbClr val="FFFFFF"/>
                </a:solidFill>
              </a:defRPr>
            </a:pPr>
            <a:r>
              <a:rPr sz="3600" b="1">
                <a:solidFill>
                  <a:srgbClr val="FFFFFF"/>
                </a:solidFill>
              </a:rPr>
              <a:t>Every claim stays auditable.</a:t>
            </a:r>
          </a:p>
        </p:txBody>
      </p:sp>
      <p:sp>
        <p:nvSpPr>
          <p:cNvPr id="4" name="">
            <a:extLst xmlns:a="http://schemas.openxmlformats.org/drawingml/2006/main">
              <a:ext uri="{FF2B5EF4-FFF2-40B4-BE49-F238E27FC236}">
                <a16:creationId xmlns:a16="http://schemas.microsoft.com/office/drawing/2014/main" id="{1D60D234-D194-4101-A13A-CF61A1B68F38}"/>
              </a:ext>
            </a:extLst>
          </p:cNvPr>
          <p:cNvSpPr>
            <a:spLocks xmlns:a="http://schemas.openxmlformats.org/drawingml/2006/main" noGrp="1"/>
          </p:cNvSpPr>
          <p:nvPr/>
        </p:nvSpPr>
        <p:spPr>
          <a:xfrm xmlns:a="http://schemas.openxmlformats.org/drawingml/2006/main">
            <a:off x="514350" y="1562100"/>
            <a:ext cx="80962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575" b="0">
                <a:solidFill>
                  <a:srgbClr val="AFC0CB"/>
                </a:solidFill>
              </a:defRPr>
            </a:pPr>
            <a:r>
              <a:rPr sz="1575" b="0">
                <a:solidFill>
                  <a:srgbClr val="AFC0CB"/>
                </a:solidFill>
              </a:rPr>
              <a:t>A claim matrix keeps the source, evidence, risk and decision together.</a:t>
            </a:r>
          </a:p>
        </p:txBody>
      </p:sp>
      <p:sp>
        <p:nvSpPr>
          <p:cNvPr id="5" name="">
            <a:extLst xmlns:a="http://schemas.openxmlformats.org/drawingml/2006/main">
              <a:ext uri="{FF2B5EF4-FFF2-40B4-BE49-F238E27FC236}">
                <a16:creationId xmlns:a16="http://schemas.microsoft.com/office/drawing/2014/main" id="{1D3BC591-50E5-4612-B9FB-09EE1C3F49A2}"/>
              </a:ext>
            </a:extLst>
          </p:cNvPr>
          <p:cNvSpPr>
            <a:spLocks xmlns:a="http://schemas.openxmlformats.org/drawingml/2006/main" noGrp="1"/>
          </p:cNvSpPr>
          <p:nvPr/>
        </p:nvSpPr>
        <p:spPr>
          <a:xfrm xmlns:a="http://schemas.openxmlformats.org/drawingml/2006/main">
            <a:off x="514350" y="2209800"/>
            <a:ext cx="7477125" cy="3695700"/>
          </a:xfrm>
          <a:prstGeom xmlns:a="http://schemas.openxmlformats.org/drawingml/2006/main" prst="rect">
            <a:avLst/>
          </a:prstGeom>
          <a:solidFill xmlns:a="http://schemas.openxmlformats.org/drawingml/2006/main">
            <a:srgbClr val="122430"/>
          </a:solidFill>
          <a:ln xmlns:a="http://schemas.openxmlformats.org/drawingml/2006/main" w="9525">
            <a:solidFill>
              <a:srgbClr val="29404E"/>
            </a:solidFill>
            <a:prstDash val="solid"/>
          </a:ln>
        </p:spPr>
      </p:sp>
      <p:sp>
        <p:nvSpPr>
          <p:cNvPr id="6" name="">
            <a:extLst xmlns:a="http://schemas.openxmlformats.org/drawingml/2006/main">
              <a:ext uri="{FF2B5EF4-FFF2-40B4-BE49-F238E27FC236}">
                <a16:creationId xmlns:a16="http://schemas.microsoft.com/office/drawing/2014/main" id="{9478B3B0-C323-47FD-8448-E12A47423D35}"/>
              </a:ext>
            </a:extLst>
          </p:cNvPr>
          <p:cNvSpPr>
            <a:spLocks xmlns:a="http://schemas.openxmlformats.org/drawingml/2006/main" noGrp="1"/>
          </p:cNvSpPr>
          <p:nvPr/>
        </p:nvSpPr>
        <p:spPr>
          <a:xfrm xmlns:a="http://schemas.openxmlformats.org/drawingml/2006/main">
            <a:off x="762000" y="2428875"/>
            <a:ext cx="17145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975" b="1">
                <a:solidFill>
                  <a:srgbClr val="8FAABD"/>
                </a:solidFill>
              </a:defRPr>
            </a:pPr>
            <a:r>
              <a:rPr sz="975" b="1">
                <a:solidFill>
                  <a:srgbClr val="8FAABD"/>
                </a:solidFill>
              </a:rPr>
              <a:t>CLAIM MATRIX</a:t>
            </a:r>
          </a:p>
        </p:txBody>
      </p:sp>
      <p:sp>
        <p:nvSpPr>
          <p:cNvPr id="7" name="">
            <a:extLst xmlns:a="http://schemas.openxmlformats.org/drawingml/2006/main">
              <a:ext uri="{FF2B5EF4-FFF2-40B4-BE49-F238E27FC236}">
                <a16:creationId xmlns:a16="http://schemas.microsoft.com/office/drawing/2014/main" id="{087C7546-9727-4FBB-800A-485D0E7E5A52}"/>
              </a:ext>
            </a:extLst>
          </p:cNvPr>
          <p:cNvSpPr>
            <a:spLocks xmlns:a="http://schemas.openxmlformats.org/drawingml/2006/main" noGrp="1"/>
          </p:cNvSpPr>
          <p:nvPr/>
        </p:nvSpPr>
        <p:spPr>
          <a:xfrm xmlns:a="http://schemas.openxmlformats.org/drawingml/2006/main">
            <a:off x="762000" y="2781300"/>
            <a:ext cx="2476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800" b="1">
                <a:solidFill>
                  <a:srgbClr val="FFFFFF"/>
                </a:solidFill>
              </a:defRPr>
            </a:pPr>
            <a:r>
              <a:rPr sz="1800" b="1">
                <a:solidFill>
                  <a:srgbClr val="FFFFFF"/>
                </a:solidFill>
              </a:rPr>
              <a:t>Casualty count</a:t>
            </a:r>
          </a:p>
        </p:txBody>
      </p:sp>
      <p:sp>
        <p:nvSpPr>
          <p:cNvPr id="8" name="">
            <a:extLst xmlns:a="http://schemas.openxmlformats.org/drawingml/2006/main">
              <a:ext uri="{FF2B5EF4-FFF2-40B4-BE49-F238E27FC236}">
                <a16:creationId xmlns:a16="http://schemas.microsoft.com/office/drawing/2014/main" id="{56EDC43D-5CC8-4ABD-8802-39F0ED7F3116}"/>
              </a:ext>
            </a:extLst>
          </p:cNvPr>
          <p:cNvSpPr>
            <a:spLocks xmlns:a="http://schemas.openxmlformats.org/drawingml/2006/main" noGrp="1"/>
          </p:cNvSpPr>
          <p:nvPr/>
        </p:nvSpPr>
        <p:spPr>
          <a:xfrm xmlns:a="http://schemas.openxmlformats.org/drawingml/2006/main">
            <a:off x="762000" y="3257550"/>
            <a:ext cx="6953250" cy="742950"/>
          </a:xfrm>
          <a:prstGeom xmlns:a="http://schemas.openxmlformats.org/drawingml/2006/main" prst="rect">
            <a:avLst/>
          </a:prstGeom>
          <a:solidFill xmlns:a="http://schemas.openxmlformats.org/drawingml/2006/main">
            <a:srgbClr val="F8FAFB"/>
          </a:solidFill>
          <a:ln xmlns:a="http://schemas.openxmlformats.org/drawingml/2006/main" w="0">
            <a:solidFill>
              <a:srgbClr val="F8FAFB"/>
            </a:solidFill>
            <a:prstDash val="solid"/>
          </a:ln>
        </p:spPr>
      </p:sp>
      <p:sp>
        <p:nvSpPr>
          <p:cNvPr id="9" name="">
            <a:extLst xmlns:a="http://schemas.openxmlformats.org/drawingml/2006/main">
              <a:ext uri="{FF2B5EF4-FFF2-40B4-BE49-F238E27FC236}">
                <a16:creationId xmlns:a16="http://schemas.microsoft.com/office/drawing/2014/main" id="{4E3378D9-ADC3-4FF0-9207-8D2188B07416}"/>
              </a:ext>
            </a:extLst>
          </p:cNvPr>
          <p:cNvSpPr>
            <a:spLocks xmlns:a="http://schemas.openxmlformats.org/drawingml/2006/main" noGrp="1"/>
          </p:cNvSpPr>
          <p:nvPr/>
        </p:nvSpPr>
        <p:spPr>
          <a:xfrm xmlns:a="http://schemas.openxmlformats.org/drawingml/2006/main">
            <a:off x="762000" y="3257550"/>
            <a:ext cx="76200" cy="742950"/>
          </a:xfrm>
          <a:prstGeom xmlns:a="http://schemas.openxmlformats.org/drawingml/2006/main" prst="rect">
            <a:avLst/>
          </a:prstGeom>
          <a:solidFill xmlns:a="http://schemas.openxmlformats.org/drawingml/2006/main">
            <a:srgbClr val="2D6F9F"/>
          </a:solidFill>
          <a:ln xmlns:a="http://schemas.openxmlformats.org/drawingml/2006/main" w="0">
            <a:solidFill>
              <a:srgbClr val="2D6F9F"/>
            </a:solidFill>
            <a:prstDash val="solid"/>
          </a:ln>
        </p:spPr>
      </p:sp>
      <p:sp>
        <p:nvSpPr>
          <p:cNvPr id="10" name="">
            <a:extLst xmlns:a="http://schemas.openxmlformats.org/drawingml/2006/main">
              <a:ext uri="{FF2B5EF4-FFF2-40B4-BE49-F238E27FC236}">
                <a16:creationId xmlns:a16="http://schemas.microsoft.com/office/drawing/2014/main" id="{81D86303-6E46-4189-AC7E-E566E3750A14}"/>
              </a:ext>
            </a:extLst>
          </p:cNvPr>
          <p:cNvSpPr>
            <a:spLocks xmlns:a="http://schemas.openxmlformats.org/drawingml/2006/main" noGrp="1"/>
          </p:cNvSpPr>
          <p:nvPr/>
        </p:nvSpPr>
        <p:spPr>
          <a:xfrm xmlns:a="http://schemas.openxmlformats.org/drawingml/2006/main">
            <a:off x="1009650" y="3371850"/>
            <a:ext cx="12382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900" b="1">
                <a:solidFill>
                  <a:srgbClr val="2D6F9F"/>
                </a:solidFill>
              </a:defRPr>
            </a:pPr>
            <a:r>
              <a:rPr sz="900" b="1">
                <a:solidFill>
                  <a:srgbClr val="2D6F9F"/>
                </a:solidFill>
              </a:rPr>
              <a:t>SOURCE A</a:t>
            </a:r>
          </a:p>
        </p:txBody>
      </p:sp>
      <p:sp>
        <p:nvSpPr>
          <p:cNvPr id="11" name="">
            <a:extLst xmlns:a="http://schemas.openxmlformats.org/drawingml/2006/main">
              <a:ext uri="{FF2B5EF4-FFF2-40B4-BE49-F238E27FC236}">
                <a16:creationId xmlns:a16="http://schemas.microsoft.com/office/drawing/2014/main" id="{C52F6BEC-21DF-496F-94CA-858FEA5938BD}"/>
              </a:ext>
            </a:extLst>
          </p:cNvPr>
          <p:cNvSpPr>
            <a:spLocks xmlns:a="http://schemas.openxmlformats.org/drawingml/2006/main" noGrp="1"/>
          </p:cNvSpPr>
          <p:nvPr/>
        </p:nvSpPr>
        <p:spPr>
          <a:xfrm xmlns:a="http://schemas.openxmlformats.org/drawingml/2006/main">
            <a:off x="1009650" y="3581400"/>
            <a:ext cx="25717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575" b="1">
                <a:solidFill>
                  <a:srgbClr val="101820"/>
                </a:solidFill>
              </a:defRPr>
            </a:pPr>
            <a:r>
              <a:rPr sz="1575" b="1">
                <a:solidFill>
                  <a:srgbClr val="101820"/>
                </a:solidFill>
              </a:rPr>
              <a:t>8 people injured</a:t>
            </a:r>
          </a:p>
        </p:txBody>
      </p:sp>
      <p:sp>
        <p:nvSpPr>
          <p:cNvPr id="12" name="">
            <a:extLst xmlns:a="http://schemas.openxmlformats.org/drawingml/2006/main">
              <a:ext uri="{FF2B5EF4-FFF2-40B4-BE49-F238E27FC236}">
                <a16:creationId xmlns:a16="http://schemas.microsoft.com/office/drawing/2014/main" id="{D8A5D43D-B5BF-41AA-8FD1-C64F0F887464}"/>
              </a:ext>
            </a:extLst>
          </p:cNvPr>
          <p:cNvSpPr>
            <a:spLocks xmlns:a="http://schemas.openxmlformats.org/drawingml/2006/main" noGrp="1"/>
          </p:cNvSpPr>
          <p:nvPr/>
        </p:nvSpPr>
        <p:spPr>
          <a:xfrm xmlns:a="http://schemas.openxmlformats.org/drawingml/2006/main">
            <a:off x="3714750" y="3448050"/>
            <a:ext cx="28575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125" b="0">
                <a:solidFill>
                  <a:srgbClr val="65747F"/>
                </a:solidFill>
              </a:defRPr>
            </a:pPr>
            <a:r>
              <a:rPr sz="1125" b="0">
                <a:solidFill>
                  <a:srgbClr val="65747F"/>
                </a:solidFill>
              </a:rPr>
              <a:t>Officials say 8 people were injured...</a:t>
            </a:r>
          </a:p>
        </p:txBody>
      </p:sp>
      <p:sp>
        <p:nvSpPr>
          <p:cNvPr id="13" name="">
            <a:extLst xmlns:a="http://schemas.openxmlformats.org/drawingml/2006/main">
              <a:ext uri="{FF2B5EF4-FFF2-40B4-BE49-F238E27FC236}">
                <a16:creationId xmlns:a16="http://schemas.microsoft.com/office/drawing/2014/main" id="{AAC26B34-4751-456B-A89D-5AC8E52031DF}"/>
              </a:ext>
            </a:extLst>
          </p:cNvPr>
          <p:cNvSpPr>
            <a:spLocks xmlns:a="http://schemas.openxmlformats.org/drawingml/2006/main" noGrp="1"/>
          </p:cNvSpPr>
          <p:nvPr/>
        </p:nvSpPr>
        <p:spPr>
          <a:xfrm xmlns:a="http://schemas.openxmlformats.org/drawingml/2006/main">
            <a:off x="6800850" y="3467100"/>
            <a:ext cx="685800" cy="304800"/>
          </a:xfrm>
          <a:prstGeom xmlns:a="http://schemas.openxmlformats.org/drawingml/2006/main" prst="rect">
            <a:avLst/>
          </a:prstGeom>
          <a:solidFill xmlns:a="http://schemas.openxmlformats.org/drawingml/2006/main">
            <a:srgbClr val="FDE7DD"/>
          </a:solidFill>
          <a:ln xmlns:a="http://schemas.openxmlformats.org/drawingml/2006/main" w="0">
            <a:solidFill>
              <a:srgbClr val="FDE7DD"/>
            </a:solidFill>
            <a:prstDash val="solid"/>
          </a:ln>
        </p:spPr>
      </p:sp>
      <p:sp>
        <p:nvSpPr>
          <p:cNvPr id="14" name="">
            <a:extLst xmlns:a="http://schemas.openxmlformats.org/drawingml/2006/main">
              <a:ext uri="{FF2B5EF4-FFF2-40B4-BE49-F238E27FC236}">
                <a16:creationId xmlns:a16="http://schemas.microsoft.com/office/drawing/2014/main" id="{277B7565-7E14-484E-A6ED-13CBC13CCB6A}"/>
              </a:ext>
            </a:extLst>
          </p:cNvPr>
          <p:cNvSpPr>
            <a:spLocks xmlns:a="http://schemas.openxmlformats.org/drawingml/2006/main" noGrp="1"/>
          </p:cNvSpPr>
          <p:nvPr/>
        </p:nvSpPr>
        <p:spPr>
          <a:xfrm xmlns:a="http://schemas.openxmlformats.org/drawingml/2006/main">
            <a:off x="6858000" y="3533775"/>
            <a:ext cx="5715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defRPr sz="825" b="1">
                <a:solidFill>
                  <a:srgbClr val="F0642B"/>
                </a:solidFill>
              </a:defRPr>
            </a:pPr>
            <a:r>
              <a:rPr sz="825" b="1">
                <a:solidFill>
                  <a:srgbClr val="F0642B"/>
                </a:solidFill>
              </a:rPr>
              <a:t>VERIFY</a:t>
            </a:r>
          </a:p>
        </p:txBody>
      </p:sp>
      <p:sp>
        <p:nvSpPr>
          <p:cNvPr id="15" name="">
            <a:extLst xmlns:a="http://schemas.openxmlformats.org/drawingml/2006/main">
              <a:ext uri="{FF2B5EF4-FFF2-40B4-BE49-F238E27FC236}">
                <a16:creationId xmlns:a16="http://schemas.microsoft.com/office/drawing/2014/main" id="{3987E054-924A-48B7-A71B-9891ED4355DF}"/>
              </a:ext>
            </a:extLst>
          </p:cNvPr>
          <p:cNvSpPr>
            <a:spLocks xmlns:a="http://schemas.openxmlformats.org/drawingml/2006/main" noGrp="1"/>
          </p:cNvSpPr>
          <p:nvPr/>
        </p:nvSpPr>
        <p:spPr>
          <a:xfrm xmlns:a="http://schemas.openxmlformats.org/drawingml/2006/main">
            <a:off x="762000" y="4171950"/>
            <a:ext cx="6953250" cy="742950"/>
          </a:xfrm>
          <a:prstGeom xmlns:a="http://schemas.openxmlformats.org/drawingml/2006/main" prst="rect">
            <a:avLst/>
          </a:prstGeom>
          <a:solidFill xmlns:a="http://schemas.openxmlformats.org/drawingml/2006/main">
            <a:srgbClr val="F8FAFB"/>
          </a:solidFill>
          <a:ln xmlns:a="http://schemas.openxmlformats.org/drawingml/2006/main" w="0">
            <a:solidFill>
              <a:srgbClr val="F8FAFB"/>
            </a:solidFill>
            <a:prstDash val="solid"/>
          </a:ln>
        </p:spPr>
      </p:sp>
      <p:sp>
        <p:nvSpPr>
          <p:cNvPr id="16" name="">
            <a:extLst xmlns:a="http://schemas.openxmlformats.org/drawingml/2006/main">
              <a:ext uri="{FF2B5EF4-FFF2-40B4-BE49-F238E27FC236}">
                <a16:creationId xmlns:a16="http://schemas.microsoft.com/office/drawing/2014/main" id="{E169447C-6958-45B0-8F77-B76A31D33CDD}"/>
              </a:ext>
            </a:extLst>
          </p:cNvPr>
          <p:cNvSpPr>
            <a:spLocks xmlns:a="http://schemas.openxmlformats.org/drawingml/2006/main" noGrp="1"/>
          </p:cNvSpPr>
          <p:nvPr/>
        </p:nvSpPr>
        <p:spPr>
          <a:xfrm xmlns:a="http://schemas.openxmlformats.org/drawingml/2006/main">
            <a:off x="762000" y="4171950"/>
            <a:ext cx="76200" cy="742950"/>
          </a:xfrm>
          <a:prstGeom xmlns:a="http://schemas.openxmlformats.org/drawingml/2006/main" prst="rect">
            <a:avLst/>
          </a:prstGeom>
          <a:solidFill xmlns:a="http://schemas.openxmlformats.org/drawingml/2006/main">
            <a:srgbClr val="F0642B"/>
          </a:solidFill>
          <a:ln xmlns:a="http://schemas.openxmlformats.org/drawingml/2006/main" w="0">
            <a:solidFill>
              <a:srgbClr val="F0642B"/>
            </a:solidFill>
            <a:prstDash val="solid"/>
          </a:ln>
        </p:spPr>
      </p:sp>
      <p:sp>
        <p:nvSpPr>
          <p:cNvPr id="17" name="">
            <a:extLst xmlns:a="http://schemas.openxmlformats.org/drawingml/2006/main">
              <a:ext uri="{FF2B5EF4-FFF2-40B4-BE49-F238E27FC236}">
                <a16:creationId xmlns:a16="http://schemas.microsoft.com/office/drawing/2014/main" id="{E9FCA5F3-6B34-4721-97A6-4C771E71222D}"/>
              </a:ext>
            </a:extLst>
          </p:cNvPr>
          <p:cNvSpPr>
            <a:spLocks xmlns:a="http://schemas.openxmlformats.org/drawingml/2006/main" noGrp="1"/>
          </p:cNvSpPr>
          <p:nvPr/>
        </p:nvSpPr>
        <p:spPr>
          <a:xfrm xmlns:a="http://schemas.openxmlformats.org/drawingml/2006/main">
            <a:off x="1009650" y="4286250"/>
            <a:ext cx="12382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900" b="1">
                <a:solidFill>
                  <a:srgbClr val="F0642B"/>
                </a:solidFill>
              </a:defRPr>
            </a:pPr>
            <a:r>
              <a:rPr sz="900" b="1">
                <a:solidFill>
                  <a:srgbClr val="F0642B"/>
                </a:solidFill>
              </a:rPr>
              <a:t>SOURCE B</a:t>
            </a:r>
          </a:p>
        </p:txBody>
      </p:sp>
      <p:sp>
        <p:nvSpPr>
          <p:cNvPr id="18" name="">
            <a:extLst xmlns:a="http://schemas.openxmlformats.org/drawingml/2006/main">
              <a:ext uri="{FF2B5EF4-FFF2-40B4-BE49-F238E27FC236}">
                <a16:creationId xmlns:a16="http://schemas.microsoft.com/office/drawing/2014/main" id="{AF366896-AC03-4EA4-96EF-B7D78EC00104}"/>
              </a:ext>
            </a:extLst>
          </p:cNvPr>
          <p:cNvSpPr>
            <a:spLocks xmlns:a="http://schemas.openxmlformats.org/drawingml/2006/main" noGrp="1"/>
          </p:cNvSpPr>
          <p:nvPr/>
        </p:nvSpPr>
        <p:spPr>
          <a:xfrm xmlns:a="http://schemas.openxmlformats.org/drawingml/2006/main">
            <a:off x="1009650" y="4495800"/>
            <a:ext cx="25717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575" b="1">
                <a:solidFill>
                  <a:srgbClr val="101820"/>
                </a:solidFill>
              </a:defRPr>
            </a:pPr>
            <a:r>
              <a:rPr sz="1575" b="1">
                <a:solidFill>
                  <a:srgbClr val="101820"/>
                </a:solidFill>
              </a:rPr>
              <a:t>12 people injured</a:t>
            </a:r>
          </a:p>
        </p:txBody>
      </p:sp>
      <p:sp>
        <p:nvSpPr>
          <p:cNvPr id="19" name="">
            <a:extLst xmlns:a="http://schemas.openxmlformats.org/drawingml/2006/main">
              <a:ext uri="{FF2B5EF4-FFF2-40B4-BE49-F238E27FC236}">
                <a16:creationId xmlns:a16="http://schemas.microsoft.com/office/drawing/2014/main" id="{DB24A0AC-6323-4F82-90F5-A349253DACBD}"/>
              </a:ext>
            </a:extLst>
          </p:cNvPr>
          <p:cNvSpPr>
            <a:spLocks xmlns:a="http://schemas.openxmlformats.org/drawingml/2006/main" noGrp="1"/>
          </p:cNvSpPr>
          <p:nvPr/>
        </p:nvSpPr>
        <p:spPr>
          <a:xfrm xmlns:a="http://schemas.openxmlformats.org/drawingml/2006/main">
            <a:off x="3714750" y="4362450"/>
            <a:ext cx="28575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125" b="0">
                <a:solidFill>
                  <a:srgbClr val="65747F"/>
                </a:solidFill>
              </a:defRPr>
            </a:pPr>
            <a:r>
              <a:rPr sz="1125" b="0">
                <a:solidFill>
                  <a:srgbClr val="65747F"/>
                </a:solidFill>
              </a:rPr>
              <a:t>Local media reports 12 people injured...</a:t>
            </a:r>
          </a:p>
        </p:txBody>
      </p:sp>
      <p:sp>
        <p:nvSpPr>
          <p:cNvPr id="20" name="">
            <a:extLst xmlns:a="http://schemas.openxmlformats.org/drawingml/2006/main">
              <a:ext uri="{FF2B5EF4-FFF2-40B4-BE49-F238E27FC236}">
                <a16:creationId xmlns:a16="http://schemas.microsoft.com/office/drawing/2014/main" id="{401F50C3-BE4E-4CC1-99C5-D04E5D961A87}"/>
              </a:ext>
            </a:extLst>
          </p:cNvPr>
          <p:cNvSpPr>
            <a:spLocks xmlns:a="http://schemas.openxmlformats.org/drawingml/2006/main" noGrp="1"/>
          </p:cNvSpPr>
          <p:nvPr/>
        </p:nvSpPr>
        <p:spPr>
          <a:xfrm xmlns:a="http://schemas.openxmlformats.org/drawingml/2006/main">
            <a:off x="6800850" y="4381500"/>
            <a:ext cx="685800" cy="304800"/>
          </a:xfrm>
          <a:prstGeom xmlns:a="http://schemas.openxmlformats.org/drawingml/2006/main" prst="rect">
            <a:avLst/>
          </a:prstGeom>
          <a:solidFill xmlns:a="http://schemas.openxmlformats.org/drawingml/2006/main">
            <a:srgbClr val="FDE7DD"/>
          </a:solidFill>
          <a:ln xmlns:a="http://schemas.openxmlformats.org/drawingml/2006/main" w="0">
            <a:solidFill>
              <a:srgbClr val="FDE7DD"/>
            </a:solidFill>
            <a:prstDash val="solid"/>
          </a:ln>
        </p:spPr>
      </p:sp>
      <p:sp>
        <p:nvSpPr>
          <p:cNvPr id="21" name="">
            <a:extLst xmlns:a="http://schemas.openxmlformats.org/drawingml/2006/main">
              <a:ext uri="{FF2B5EF4-FFF2-40B4-BE49-F238E27FC236}">
                <a16:creationId xmlns:a16="http://schemas.microsoft.com/office/drawing/2014/main" id="{AEB14B94-B5A7-4DF0-8C0B-96BA4C5312A6}"/>
              </a:ext>
            </a:extLst>
          </p:cNvPr>
          <p:cNvSpPr>
            <a:spLocks xmlns:a="http://schemas.openxmlformats.org/drawingml/2006/main" noGrp="1"/>
          </p:cNvSpPr>
          <p:nvPr/>
        </p:nvSpPr>
        <p:spPr>
          <a:xfrm xmlns:a="http://schemas.openxmlformats.org/drawingml/2006/main">
            <a:off x="6858000" y="4448175"/>
            <a:ext cx="5715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defRPr sz="825" b="1">
                <a:solidFill>
                  <a:srgbClr val="F0642B"/>
                </a:solidFill>
              </a:defRPr>
            </a:pPr>
            <a:r>
              <a:rPr sz="825" b="1">
                <a:solidFill>
                  <a:srgbClr val="F0642B"/>
                </a:solidFill>
              </a:rPr>
              <a:t>VERIFY</a:t>
            </a:r>
          </a:p>
        </p:txBody>
      </p:sp>
      <p:sp>
        <p:nvSpPr>
          <p:cNvPr id="22" name="">
            <a:extLst xmlns:a="http://schemas.openxmlformats.org/drawingml/2006/main">
              <a:ext uri="{FF2B5EF4-FFF2-40B4-BE49-F238E27FC236}">
                <a16:creationId xmlns:a16="http://schemas.microsoft.com/office/drawing/2014/main" id="{9DB9C1AB-4C32-46C1-B528-14154C61132C}"/>
              </a:ext>
            </a:extLst>
          </p:cNvPr>
          <p:cNvSpPr>
            <a:spLocks xmlns:a="http://schemas.openxmlformats.org/drawingml/2006/main" noGrp="1"/>
          </p:cNvSpPr>
          <p:nvPr/>
        </p:nvSpPr>
        <p:spPr>
          <a:xfrm xmlns:a="http://schemas.openxmlformats.org/drawingml/2006/main">
            <a:off x="762000" y="5219700"/>
            <a:ext cx="6953250" cy="9525"/>
          </a:xfrm>
          <a:prstGeom xmlns:a="http://schemas.openxmlformats.org/drawingml/2006/main" prst="rect">
            <a:avLst/>
          </a:prstGeom>
          <a:solidFill xmlns:a="http://schemas.openxmlformats.org/drawingml/2006/main">
            <a:srgbClr val="29404E"/>
          </a:solidFill>
          <a:ln xmlns:a="http://schemas.openxmlformats.org/drawingml/2006/main" w="0">
            <a:solidFill>
              <a:srgbClr val="29404E"/>
            </a:solidFill>
            <a:prstDash val="solid"/>
          </a:ln>
        </p:spPr>
      </p:sp>
      <p:sp>
        <p:nvSpPr>
          <p:cNvPr id="23" name="">
            <a:extLst xmlns:a="http://schemas.openxmlformats.org/drawingml/2006/main">
              <a:ext uri="{FF2B5EF4-FFF2-40B4-BE49-F238E27FC236}">
                <a16:creationId xmlns:a16="http://schemas.microsoft.com/office/drawing/2014/main" id="{72342A9B-FBA2-466B-8AA2-CF25B3ED4428}"/>
              </a:ext>
            </a:extLst>
          </p:cNvPr>
          <p:cNvSpPr>
            <a:spLocks xmlns:a="http://schemas.openxmlformats.org/drawingml/2006/main" noGrp="1"/>
          </p:cNvSpPr>
          <p:nvPr/>
        </p:nvSpPr>
        <p:spPr>
          <a:xfrm xmlns:a="http://schemas.openxmlformats.org/drawingml/2006/main">
            <a:off x="990600" y="5410200"/>
            <a:ext cx="10477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975" b="1">
                <a:solidFill>
                  <a:srgbClr val="25845F"/>
                </a:solidFill>
              </a:defRPr>
            </a:pPr>
            <a:r>
              <a:rPr sz="975" b="1">
                <a:solidFill>
                  <a:srgbClr val="25845F"/>
                </a:solidFill>
              </a:rPr>
              <a:t>CONFIRM</a:t>
            </a:r>
          </a:p>
        </p:txBody>
      </p:sp>
      <p:sp>
        <p:nvSpPr>
          <p:cNvPr id="24" name="">
            <a:extLst xmlns:a="http://schemas.openxmlformats.org/drawingml/2006/main">
              <a:ext uri="{FF2B5EF4-FFF2-40B4-BE49-F238E27FC236}">
                <a16:creationId xmlns:a16="http://schemas.microsoft.com/office/drawing/2014/main" id="{005A1CAD-1A55-414F-917F-4CEE4F1666BE}"/>
              </a:ext>
            </a:extLst>
          </p:cNvPr>
          <p:cNvSpPr>
            <a:spLocks xmlns:a="http://schemas.openxmlformats.org/drawingml/2006/main" noGrp="1"/>
          </p:cNvSpPr>
          <p:nvPr/>
        </p:nvSpPr>
        <p:spPr>
          <a:xfrm xmlns:a="http://schemas.openxmlformats.org/drawingml/2006/main">
            <a:off x="2838450" y="5410200"/>
            <a:ext cx="1524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975" b="1">
                <a:solidFill>
                  <a:srgbClr val="F0642B"/>
                </a:solidFill>
              </a:defRPr>
            </a:pPr>
            <a:r>
              <a:rPr sz="975" b="1">
                <a:solidFill>
                  <a:srgbClr val="F0642B"/>
                </a:solidFill>
              </a:rPr>
              <a:t>KEEP VERIFYING</a:t>
            </a:r>
          </a:p>
        </p:txBody>
      </p:sp>
      <p:sp>
        <p:nvSpPr>
          <p:cNvPr id="25" name="">
            <a:extLst xmlns:a="http://schemas.openxmlformats.org/drawingml/2006/main">
              <a:ext uri="{FF2B5EF4-FFF2-40B4-BE49-F238E27FC236}">
                <a16:creationId xmlns:a16="http://schemas.microsoft.com/office/drawing/2014/main" id="{8344B9E6-994B-479D-AB2B-C5219F319E2A}"/>
              </a:ext>
            </a:extLst>
          </p:cNvPr>
          <p:cNvSpPr>
            <a:spLocks xmlns:a="http://schemas.openxmlformats.org/drawingml/2006/main" noGrp="1"/>
          </p:cNvSpPr>
          <p:nvPr/>
        </p:nvSpPr>
        <p:spPr>
          <a:xfrm xmlns:a="http://schemas.openxmlformats.org/drawingml/2006/main">
            <a:off x="5400675" y="5410200"/>
            <a:ext cx="8572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975" b="1">
                <a:solidFill>
                  <a:srgbClr val="95A6B1"/>
                </a:solidFill>
              </a:defRPr>
            </a:pPr>
            <a:r>
              <a:rPr sz="975" b="1">
                <a:solidFill>
                  <a:srgbClr val="95A6B1"/>
                </a:solidFill>
              </a:rPr>
              <a:t>IGNORE</a:t>
            </a:r>
          </a:p>
        </p:txBody>
      </p:sp>
      <p:sp>
        <p:nvSpPr>
          <p:cNvPr id="26" name="">
            <a:extLst xmlns:a="http://schemas.openxmlformats.org/drawingml/2006/main">
              <a:ext uri="{FF2B5EF4-FFF2-40B4-BE49-F238E27FC236}">
                <a16:creationId xmlns:a16="http://schemas.microsoft.com/office/drawing/2014/main" id="{9EA1DBF6-1154-46C8-8526-7680409FAF11}"/>
              </a:ext>
            </a:extLst>
          </p:cNvPr>
          <p:cNvSpPr>
            <a:spLocks xmlns:a="http://schemas.openxmlformats.org/drawingml/2006/main" noGrp="1"/>
          </p:cNvSpPr>
          <p:nvPr/>
        </p:nvSpPr>
        <p:spPr>
          <a:xfrm xmlns:a="http://schemas.openxmlformats.org/drawingml/2006/main">
            <a:off x="8334375" y="2209800"/>
            <a:ext cx="3286125" cy="3695700"/>
          </a:xfrm>
          <a:prstGeom xmlns:a="http://schemas.openxmlformats.org/drawingml/2006/main" prst="rect">
            <a:avLst/>
          </a:prstGeom>
          <a:solidFill xmlns:a="http://schemas.openxmlformats.org/drawingml/2006/main">
            <a:srgbClr val="FDE7DD"/>
          </a:solidFill>
          <a:ln xmlns:a="http://schemas.openxmlformats.org/drawingml/2006/main" w="0">
            <a:solidFill>
              <a:srgbClr val="FDE7DD"/>
            </a:solidFill>
            <a:prstDash val="solid"/>
          </a:ln>
        </p:spPr>
      </p:sp>
      <p:sp>
        <p:nvSpPr>
          <p:cNvPr id="27" name="">
            <a:extLst xmlns:a="http://schemas.openxmlformats.org/drawingml/2006/main">
              <a:ext uri="{FF2B5EF4-FFF2-40B4-BE49-F238E27FC236}">
                <a16:creationId xmlns:a16="http://schemas.microsoft.com/office/drawing/2014/main" id="{3D67B6FE-58E9-4403-AA16-ED973108315E}"/>
              </a:ext>
            </a:extLst>
          </p:cNvPr>
          <p:cNvSpPr>
            <a:spLocks xmlns:a="http://schemas.openxmlformats.org/drawingml/2006/main" noGrp="1"/>
          </p:cNvSpPr>
          <p:nvPr/>
        </p:nvSpPr>
        <p:spPr>
          <a:xfrm xmlns:a="http://schemas.openxmlformats.org/drawingml/2006/main">
            <a:off x="8620125" y="2457450"/>
            <a:ext cx="17145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975" b="1">
                <a:solidFill>
                  <a:srgbClr val="F0642B"/>
                </a:solidFill>
              </a:defRPr>
            </a:pPr>
            <a:r>
              <a:rPr sz="975" b="1">
                <a:solidFill>
                  <a:srgbClr val="F0642B"/>
                </a:solidFill>
              </a:rPr>
              <a:t>CONFLICT DESK</a:t>
            </a:r>
          </a:p>
        </p:txBody>
      </p:sp>
      <p:sp>
        <p:nvSpPr>
          <p:cNvPr id="28" name="">
            <a:extLst xmlns:a="http://schemas.openxmlformats.org/drawingml/2006/main">
              <a:ext uri="{FF2B5EF4-FFF2-40B4-BE49-F238E27FC236}">
                <a16:creationId xmlns:a16="http://schemas.microsoft.com/office/drawing/2014/main" id="{4B0151B5-1A4E-406F-AC69-459BD8E2DAAE}"/>
              </a:ext>
            </a:extLst>
          </p:cNvPr>
          <p:cNvSpPr>
            <a:spLocks xmlns:a="http://schemas.openxmlformats.org/drawingml/2006/main" noGrp="1"/>
          </p:cNvSpPr>
          <p:nvPr/>
        </p:nvSpPr>
        <p:spPr>
          <a:xfrm xmlns:a="http://schemas.openxmlformats.org/drawingml/2006/main">
            <a:off x="8620125" y="2886075"/>
            <a:ext cx="247650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2175" b="1">
                <a:solidFill>
                  <a:srgbClr val="101820"/>
                </a:solidFill>
              </a:defRPr>
            </a:pPr>
            <a:r>
              <a:rPr sz="2175" b="1">
                <a:solidFill>
                  <a:srgbClr val="101820"/>
                </a:solidFill>
              </a:rPr>
              <a:t>Casualty count conflict</a:t>
            </a:r>
          </a:p>
        </p:txBody>
      </p:sp>
      <p:sp>
        <p:nvSpPr>
          <p:cNvPr id="29" name="">
            <a:extLst xmlns:a="http://schemas.openxmlformats.org/drawingml/2006/main">
              <a:ext uri="{FF2B5EF4-FFF2-40B4-BE49-F238E27FC236}">
                <a16:creationId xmlns:a16="http://schemas.microsoft.com/office/drawing/2014/main" id="{D41AE9EF-798E-4725-8919-67D3543B5273}"/>
              </a:ext>
            </a:extLst>
          </p:cNvPr>
          <p:cNvSpPr>
            <a:spLocks xmlns:a="http://schemas.openxmlformats.org/drawingml/2006/main" noGrp="1"/>
          </p:cNvSpPr>
          <p:nvPr/>
        </p:nvSpPr>
        <p:spPr>
          <a:xfrm xmlns:a="http://schemas.openxmlformats.org/drawingml/2006/main">
            <a:off x="8620125" y="3695700"/>
            <a:ext cx="2476500" cy="1000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425" b="0">
                <a:solidFill>
                  <a:srgbClr val="4E5960"/>
                </a:solidFill>
              </a:defRPr>
            </a:pPr>
            <a:r>
              <a:rPr sz="1425" b="0">
                <a:solidFill>
                  <a:srgbClr val="4E5960"/>
                </a:solidFill>
              </a:rPr>
              <a:t>Two sources report different injury counts while the primary source has not confirmed a figure.</a:t>
            </a:r>
          </a:p>
        </p:txBody>
      </p:sp>
      <p:sp>
        <p:nvSpPr>
          <p:cNvPr id="30" name="">
            <a:extLst xmlns:a="http://schemas.openxmlformats.org/drawingml/2006/main">
              <a:ext uri="{FF2B5EF4-FFF2-40B4-BE49-F238E27FC236}">
                <a16:creationId xmlns:a16="http://schemas.microsoft.com/office/drawing/2014/main" id="{35EA44DD-2910-4994-AA39-329DB7DBD790}"/>
              </a:ext>
            </a:extLst>
          </p:cNvPr>
          <p:cNvSpPr>
            <a:spLocks xmlns:a="http://schemas.openxmlformats.org/drawingml/2006/main" noGrp="1"/>
          </p:cNvSpPr>
          <p:nvPr/>
        </p:nvSpPr>
        <p:spPr>
          <a:xfrm xmlns:a="http://schemas.openxmlformats.org/drawingml/2006/main">
            <a:off x="8620125" y="4914900"/>
            <a:ext cx="1047750" cy="38100"/>
          </a:xfrm>
          <a:prstGeom xmlns:a="http://schemas.openxmlformats.org/drawingml/2006/main" prst="rect">
            <a:avLst/>
          </a:prstGeom>
          <a:solidFill xmlns:a="http://schemas.openxmlformats.org/drawingml/2006/main">
            <a:srgbClr val="F0642B"/>
          </a:solidFill>
          <a:ln xmlns:a="http://schemas.openxmlformats.org/drawingml/2006/main" w="0">
            <a:solidFill>
              <a:srgbClr val="F0642B"/>
            </a:solidFill>
            <a:prstDash val="solid"/>
          </a:ln>
        </p:spPr>
      </p:sp>
      <p:sp>
        <p:nvSpPr>
          <p:cNvPr id="31" name="">
            <a:extLst xmlns:a="http://schemas.openxmlformats.org/drawingml/2006/main">
              <a:ext uri="{FF2B5EF4-FFF2-40B4-BE49-F238E27FC236}">
                <a16:creationId xmlns:a16="http://schemas.microsoft.com/office/drawing/2014/main" id="{AABD4E8F-CE87-4583-A71A-7E4A3984841C}"/>
              </a:ext>
            </a:extLst>
          </p:cNvPr>
          <p:cNvSpPr>
            <a:spLocks xmlns:a="http://schemas.openxmlformats.org/drawingml/2006/main" noGrp="1"/>
          </p:cNvSpPr>
          <p:nvPr/>
        </p:nvSpPr>
        <p:spPr>
          <a:xfrm xmlns:a="http://schemas.openxmlformats.org/drawingml/2006/main">
            <a:off x="8620125" y="5124450"/>
            <a:ext cx="2524125"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275" b="1">
                <a:solidFill>
                  <a:srgbClr val="F0642B"/>
                </a:solidFill>
              </a:defRPr>
            </a:pPr>
            <a:r>
              <a:rPr sz="1275" b="1">
                <a:solidFill>
                  <a:srgbClr val="F0642B"/>
                </a:solidFill>
              </a:rPr>
              <a:t>Do not publish a precise number until a primary source confirms it.</a:t>
            </a:r>
          </a:p>
        </p:txBody>
      </p:sp>
      <p:sp>
        <p:nvSpPr>
          <p:cNvPr id="32" name="">
            <a:extLst xmlns:a="http://schemas.openxmlformats.org/drawingml/2006/main">
              <a:ext uri="{FF2B5EF4-FFF2-40B4-BE49-F238E27FC236}">
                <a16:creationId xmlns:a16="http://schemas.microsoft.com/office/drawing/2014/main" id="{E2FEE297-3C21-46F2-96D8-A7B1E1BD99BD}"/>
              </a:ext>
            </a:extLst>
          </p:cNvPr>
          <p:cNvSpPr>
            <a:spLocks xmlns:a="http://schemas.openxmlformats.org/drawingml/2006/main" noGrp="1"/>
          </p:cNvSpPr>
          <p:nvPr/>
        </p:nvSpPr>
        <p:spPr>
          <a:xfrm xmlns:a="http://schemas.openxmlformats.org/drawingml/2006/main">
            <a:off x="514350" y="6515100"/>
            <a:ext cx="40957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900" b="1">
                <a:solidFill>
                  <a:srgbClr val="9CB0BE"/>
                </a:solidFill>
              </a:defRPr>
            </a:pPr>
            <a:r>
              <a:rPr sz="900" b="1">
                <a:solidFill>
                  <a:srgbClr val="9CB0BE"/>
                </a:solidFill>
              </a:rPr>
              <a:t>LIVEBRIEF  /  EPITECH HACKATHON</a:t>
            </a:r>
          </a:p>
        </p:txBody>
      </p:sp>
      <p:sp>
        <p:nvSpPr>
          <p:cNvPr id="33" name="">
            <a:extLst xmlns:a="http://schemas.openxmlformats.org/drawingml/2006/main">
              <a:ext uri="{FF2B5EF4-FFF2-40B4-BE49-F238E27FC236}">
                <a16:creationId xmlns:a16="http://schemas.microsoft.com/office/drawing/2014/main" id="{B942FCA6-4526-42CB-A136-F8CAE1CACF3C}"/>
              </a:ext>
            </a:extLst>
          </p:cNvPr>
          <p:cNvSpPr>
            <a:spLocks xmlns:a="http://schemas.openxmlformats.org/drawingml/2006/main" noGrp="1"/>
          </p:cNvSpPr>
          <p:nvPr/>
        </p:nvSpPr>
        <p:spPr>
          <a:xfrm xmlns:a="http://schemas.openxmlformats.org/drawingml/2006/main">
            <a:off x="11334750" y="6496050"/>
            <a:ext cx="3429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r">
              <a:defRPr sz="900" b="1">
                <a:solidFill>
                  <a:srgbClr val="9CB0BE"/>
                </a:solidFill>
              </a:defRPr>
            </a:pPr>
            <a:r>
              <a:rPr sz="900" b="1">
                <a:solidFill>
                  <a:srgbClr val="9CB0BE"/>
                </a:solidFill>
              </a:rPr>
              <a:t>04</a:t>
            </a:r>
          </a:p>
        </p:txBody>
      </p:sp>
    </p:spTree>
    <p:extLst>
      <p:ext uri="{BB962C8B-B14F-4D97-AF65-F5344CB8AC3E}">
        <p14:creationId xmlns:p14="http://schemas.microsoft.com/office/powerpoint/2010/main" val="366636729"/>
      </p:ext>
    </p:extLst>
  </p:cSld>
</p:sld>
</file>

<file path=ppt/slides/slide5.xml><?xml version="1.0" encoding="utf-8"?>
<p:sld xmlns:p="http://schemas.openxmlformats.org/presentationml/2006/main">
  <p:cSld>
    <p:bg>
      <p:bgPr>
        <a:solidFill xmlns:a="http://schemas.openxmlformats.org/drawingml/2006/main">
          <a:srgbClr val="F5F7F8"/>
        </a:solidFill>
      </p:bgPr>
    </p:bg>
    <p:spTree>
      <p:nvGrpSpPr>
        <p:cNvPr id="1" name=""/>
        <p:cNvGrpSpPr/>
        <p:nvPr/>
      </p:nvGrpSpPr>
      <p:grpSpPr>
        <a:xfrm xmlns:a="http://schemas.openxmlformats.org/drawingml/2006/main"/>
      </p:grpSpPr>
      <p:sp>
        <p:nvSpPr>
          <p:cNvPr id="1" name="">
            <a:extLst xmlns:a="http://schemas.openxmlformats.org/drawingml/2006/main">
              <a:ext uri="{FF2B5EF4-FFF2-40B4-BE49-F238E27FC236}">
                <a16:creationId xmlns:a16="http://schemas.microsoft.com/office/drawing/2014/main" id="{919FE7F0-9D56-4967-A7B2-B595762C3046}"/>
              </a:ext>
            </a:extLst>
          </p:cNvPr>
          <p:cNvSpPr>
            <a:spLocks xmlns:a="http://schemas.openxmlformats.org/drawingml/2006/main" noGrp="1"/>
          </p:cNvSpPr>
          <p:nvPr/>
        </p:nvSpPr>
        <p:spPr>
          <a:xfrm xmlns:a="http://schemas.openxmlformats.org/drawingml/2006/main">
            <a:off x="514350" y="438150"/>
            <a:ext cx="76200" cy="209550"/>
          </a:xfrm>
          <a:prstGeom xmlns:a="http://schemas.openxmlformats.org/drawingml/2006/main" prst="rect">
            <a:avLst/>
          </a:prstGeom>
          <a:solidFill xmlns:a="http://schemas.openxmlformats.org/drawingml/2006/main">
            <a:srgbClr val="25845F"/>
          </a:solidFill>
          <a:ln xmlns:a="http://schemas.openxmlformats.org/drawingml/2006/main" w="0">
            <a:solidFill>
              <a:srgbClr val="25845F"/>
            </a:solidFill>
            <a:prstDash val="solid"/>
          </a:ln>
        </p:spPr>
      </p:sp>
      <p:sp>
        <p:nvSpPr>
          <p:cNvPr id="2" name="">
            <a:extLst xmlns:a="http://schemas.openxmlformats.org/drawingml/2006/main">
              <a:ext uri="{FF2B5EF4-FFF2-40B4-BE49-F238E27FC236}">
                <a16:creationId xmlns:a16="http://schemas.microsoft.com/office/drawing/2014/main" id="{1AA13693-6C2C-48E4-94B3-58D194A5EC0E}"/>
              </a:ext>
            </a:extLst>
          </p:cNvPr>
          <p:cNvSpPr>
            <a:spLocks xmlns:a="http://schemas.openxmlformats.org/drawingml/2006/main" noGrp="1"/>
          </p:cNvSpPr>
          <p:nvPr/>
        </p:nvSpPr>
        <p:spPr>
          <a:xfrm xmlns:a="http://schemas.openxmlformats.org/drawingml/2006/main">
            <a:off x="723900" y="409575"/>
            <a:ext cx="49530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200" b="1">
                <a:solidFill>
                  <a:srgbClr val="25845F"/>
                </a:solidFill>
              </a:defRPr>
            </a:pPr>
            <a:r>
              <a:rPr sz="1200" b="1">
                <a:solidFill>
                  <a:srgbClr val="25845F"/>
                </a:solidFill>
              </a:rPr>
              <a:t>EDITORIAL SAFETY</a:t>
            </a:r>
          </a:p>
        </p:txBody>
      </p:sp>
      <p:sp>
        <p:nvSpPr>
          <p:cNvPr id="3" name="">
            <a:extLst xmlns:a="http://schemas.openxmlformats.org/drawingml/2006/main">
              <a:ext uri="{FF2B5EF4-FFF2-40B4-BE49-F238E27FC236}">
                <a16:creationId xmlns:a16="http://schemas.microsoft.com/office/drawing/2014/main" id="{8E84766E-7AAB-48C3-8DDE-A8E77E34D7C0}"/>
              </a:ext>
            </a:extLst>
          </p:cNvPr>
          <p:cNvSpPr>
            <a:spLocks xmlns:a="http://schemas.openxmlformats.org/drawingml/2006/main" noGrp="1"/>
          </p:cNvSpPr>
          <p:nvPr/>
        </p:nvSpPr>
        <p:spPr>
          <a:xfrm xmlns:a="http://schemas.openxmlformats.org/drawingml/2006/main">
            <a:off x="514350" y="952500"/>
            <a:ext cx="809625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3900" b="1">
                <a:solidFill>
                  <a:srgbClr val="101820"/>
                </a:solidFill>
              </a:defRPr>
            </a:pPr>
            <a:r>
              <a:rPr sz="3900" b="1">
                <a:solidFill>
                  <a:srgbClr val="101820"/>
                </a:solidFill>
              </a:rPr>
              <a:t>AI extracts. Editors decide.</a:t>
            </a:r>
          </a:p>
        </p:txBody>
      </p:sp>
      <p:sp>
        <p:nvSpPr>
          <p:cNvPr id="4" name="">
            <a:extLst xmlns:a="http://schemas.openxmlformats.org/drawingml/2006/main">
              <a:ext uri="{FF2B5EF4-FFF2-40B4-BE49-F238E27FC236}">
                <a16:creationId xmlns:a16="http://schemas.microsoft.com/office/drawing/2014/main" id="{4D2DC5FC-64BD-4F8C-8836-CE54CC07BF35}"/>
              </a:ext>
            </a:extLst>
          </p:cNvPr>
          <p:cNvSpPr>
            <a:spLocks xmlns:a="http://schemas.openxmlformats.org/drawingml/2006/main" noGrp="1"/>
          </p:cNvSpPr>
          <p:nvPr/>
        </p:nvSpPr>
        <p:spPr>
          <a:xfrm xmlns:a="http://schemas.openxmlformats.org/drawingml/2006/main">
            <a:off x="514350" y="1657350"/>
            <a:ext cx="771525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650" b="0">
                <a:solidFill>
                  <a:srgbClr val="65747F"/>
                </a:solidFill>
              </a:defRPr>
            </a:pPr>
            <a:r>
              <a:rPr sz="1650" b="0">
                <a:solidFill>
                  <a:srgbClr val="65747F"/>
                </a:solidFill>
              </a:rPr>
              <a:t>Four guardrails keep fluent output from becoming unsupported fact.</a:t>
            </a:r>
          </a:p>
        </p:txBody>
      </p:sp>
      <p:sp>
        <p:nvSpPr>
          <p:cNvPr id="5" name="">
            <a:extLst xmlns:a="http://schemas.openxmlformats.org/drawingml/2006/main">
              <a:ext uri="{FF2B5EF4-FFF2-40B4-BE49-F238E27FC236}">
                <a16:creationId xmlns:a16="http://schemas.microsoft.com/office/drawing/2014/main" id="{C3F3D5F9-87BF-4989-B868-A32C2D825082}"/>
              </a:ext>
            </a:extLst>
          </p:cNvPr>
          <p:cNvSpPr>
            <a:spLocks xmlns:a="http://schemas.openxmlformats.org/drawingml/2006/main" noGrp="1"/>
          </p:cNvSpPr>
          <p:nvPr/>
        </p:nvSpPr>
        <p:spPr>
          <a:xfrm xmlns:a="http://schemas.openxmlformats.org/drawingml/2006/main">
            <a:off x="1095375" y="3314700"/>
            <a:ext cx="9715500" cy="28575"/>
          </a:xfrm>
          <a:prstGeom xmlns:a="http://schemas.openxmlformats.org/drawingml/2006/main" prst="rect">
            <a:avLst/>
          </a:prstGeom>
          <a:solidFill xmlns:a="http://schemas.openxmlformats.org/drawingml/2006/main">
            <a:srgbClr val="C8D1D7"/>
          </a:solidFill>
          <a:ln xmlns:a="http://schemas.openxmlformats.org/drawingml/2006/main" w="0">
            <a:solidFill>
              <a:srgbClr val="C8D1D7"/>
            </a:solidFill>
            <a:prstDash val="solid"/>
          </a:ln>
        </p:spPr>
      </p:sp>
      <p:sp>
        <p:nvSpPr>
          <p:cNvPr id="6" name="">
            <a:extLst xmlns:a="http://schemas.openxmlformats.org/drawingml/2006/main">
              <a:ext uri="{FF2B5EF4-FFF2-40B4-BE49-F238E27FC236}">
                <a16:creationId xmlns:a16="http://schemas.microsoft.com/office/drawing/2014/main" id="{CA9D50B4-D240-4DDB-94E4-6487DF366BC9}"/>
              </a:ext>
            </a:extLst>
          </p:cNvPr>
          <p:cNvSpPr>
            <a:spLocks xmlns:a="http://schemas.openxmlformats.org/drawingml/2006/main" noGrp="1"/>
          </p:cNvSpPr>
          <p:nvPr/>
        </p:nvSpPr>
        <p:spPr>
          <a:xfrm xmlns:a="http://schemas.openxmlformats.org/drawingml/2006/main">
            <a:off x="923925" y="3105150"/>
            <a:ext cx="419100" cy="419100"/>
          </a:xfrm>
          <a:prstGeom xmlns:a="http://schemas.openxmlformats.org/drawingml/2006/main" prst="ellipse">
            <a:avLst/>
          </a:prstGeom>
          <a:solidFill xmlns:a="http://schemas.openxmlformats.org/drawingml/2006/main">
            <a:srgbClr val="2D6F9F"/>
          </a:solidFill>
          <a:ln xmlns:a="http://schemas.openxmlformats.org/drawingml/2006/main" w="0">
            <a:solidFill>
              <a:srgbClr val="2D6F9F"/>
            </a:solidFill>
            <a:prstDash val="solid"/>
          </a:ln>
        </p:spPr>
      </p:sp>
      <p:sp>
        <p:nvSpPr>
          <p:cNvPr id="7" name="">
            <a:extLst xmlns:a="http://schemas.openxmlformats.org/drawingml/2006/main">
              <a:ext uri="{FF2B5EF4-FFF2-40B4-BE49-F238E27FC236}">
                <a16:creationId xmlns:a16="http://schemas.microsoft.com/office/drawing/2014/main" id="{F82E692C-6B49-40E6-8CFD-E904AD476A97}"/>
              </a:ext>
            </a:extLst>
          </p:cNvPr>
          <p:cNvSpPr>
            <a:spLocks xmlns:a="http://schemas.openxmlformats.org/drawingml/2006/main" noGrp="1"/>
          </p:cNvSpPr>
          <p:nvPr/>
        </p:nvSpPr>
        <p:spPr>
          <a:xfrm xmlns:a="http://schemas.openxmlformats.org/drawingml/2006/main">
            <a:off x="981075" y="3181350"/>
            <a:ext cx="3048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defRPr sz="1200" b="1">
                <a:solidFill>
                  <a:srgbClr val="FFFFFF"/>
                </a:solidFill>
              </a:defRPr>
            </a:pPr>
            <a:r>
              <a:rPr sz="1200" b="1">
                <a:solidFill>
                  <a:srgbClr val="FFFFFF"/>
                </a:solidFill>
              </a:rPr>
              <a:t>1</a:t>
            </a:r>
          </a:p>
        </p:txBody>
      </p:sp>
      <p:sp>
        <p:nvSpPr>
          <p:cNvPr id="8" name="">
            <a:extLst xmlns:a="http://schemas.openxmlformats.org/drawingml/2006/main">
              <a:ext uri="{FF2B5EF4-FFF2-40B4-BE49-F238E27FC236}">
                <a16:creationId xmlns:a16="http://schemas.microsoft.com/office/drawing/2014/main" id="{C90DE842-8993-4F81-98BD-55C7C790EDAA}"/>
              </a:ext>
            </a:extLst>
          </p:cNvPr>
          <p:cNvSpPr>
            <a:spLocks xmlns:a="http://schemas.openxmlformats.org/drawingml/2006/main" noGrp="1"/>
          </p:cNvSpPr>
          <p:nvPr/>
        </p:nvSpPr>
        <p:spPr>
          <a:xfrm xmlns:a="http://schemas.openxmlformats.org/drawingml/2006/main">
            <a:off x="923925" y="3829050"/>
            <a:ext cx="219075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650" b="1">
                <a:solidFill>
                  <a:srgbClr val="101820"/>
                </a:solidFill>
              </a:defRPr>
            </a:pPr>
            <a:r>
              <a:rPr sz="1650" b="1">
                <a:solidFill>
                  <a:srgbClr val="101820"/>
                </a:solidFill>
              </a:rPr>
              <a:t>Extract, not truth</a:t>
            </a:r>
          </a:p>
        </p:txBody>
      </p:sp>
      <p:sp>
        <p:nvSpPr>
          <p:cNvPr id="9" name="">
            <a:extLst xmlns:a="http://schemas.openxmlformats.org/drawingml/2006/main">
              <a:ext uri="{FF2B5EF4-FFF2-40B4-BE49-F238E27FC236}">
                <a16:creationId xmlns:a16="http://schemas.microsoft.com/office/drawing/2014/main" id="{272F357C-C1A6-48D0-82ED-1D06A99A96DA}"/>
              </a:ext>
            </a:extLst>
          </p:cNvPr>
          <p:cNvSpPr>
            <a:spLocks xmlns:a="http://schemas.openxmlformats.org/drawingml/2006/main" noGrp="1"/>
          </p:cNvSpPr>
          <p:nvPr/>
        </p:nvSpPr>
        <p:spPr>
          <a:xfrm xmlns:a="http://schemas.openxmlformats.org/drawingml/2006/main">
            <a:off x="923925" y="4305300"/>
            <a:ext cx="2095500" cy="876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275" b="0">
                <a:solidFill>
                  <a:srgbClr val="65747F"/>
                </a:solidFill>
              </a:defRPr>
            </a:pPr>
            <a:r>
              <a:rPr sz="1275" b="0">
                <a:solidFill>
                  <a:srgbClr val="65747F"/>
                </a:solidFill>
              </a:rPr>
              <a:t>AI identifies claims and evidence. It never selects a winner.</a:t>
            </a:r>
          </a:p>
        </p:txBody>
      </p:sp>
      <p:sp>
        <p:nvSpPr>
          <p:cNvPr id="10" name="">
            <a:extLst xmlns:a="http://schemas.openxmlformats.org/drawingml/2006/main">
              <a:ext uri="{FF2B5EF4-FFF2-40B4-BE49-F238E27FC236}">
                <a16:creationId xmlns:a16="http://schemas.microsoft.com/office/drawing/2014/main" id="{1FFA28D9-190A-4496-8378-08C2169AAEF2}"/>
              </a:ext>
            </a:extLst>
          </p:cNvPr>
          <p:cNvSpPr>
            <a:spLocks xmlns:a="http://schemas.openxmlformats.org/drawingml/2006/main" noGrp="1"/>
          </p:cNvSpPr>
          <p:nvPr/>
        </p:nvSpPr>
        <p:spPr>
          <a:xfrm xmlns:a="http://schemas.openxmlformats.org/drawingml/2006/main">
            <a:off x="3686175" y="3105150"/>
            <a:ext cx="419100" cy="419100"/>
          </a:xfrm>
          <a:prstGeom xmlns:a="http://schemas.openxmlformats.org/drawingml/2006/main" prst="ellipse">
            <a:avLst/>
          </a:prstGeom>
          <a:solidFill xmlns:a="http://schemas.openxmlformats.org/drawingml/2006/main">
            <a:srgbClr val="F0642B"/>
          </a:solidFill>
          <a:ln xmlns:a="http://schemas.openxmlformats.org/drawingml/2006/main" w="0">
            <a:solidFill>
              <a:srgbClr val="F0642B"/>
            </a:solidFill>
            <a:prstDash val="solid"/>
          </a:ln>
        </p:spPr>
      </p:sp>
      <p:sp>
        <p:nvSpPr>
          <p:cNvPr id="11" name="">
            <a:extLst xmlns:a="http://schemas.openxmlformats.org/drawingml/2006/main">
              <a:ext uri="{FF2B5EF4-FFF2-40B4-BE49-F238E27FC236}">
                <a16:creationId xmlns:a16="http://schemas.microsoft.com/office/drawing/2014/main" id="{5D893033-110A-486F-B95C-BD5CD061D2A0}"/>
              </a:ext>
            </a:extLst>
          </p:cNvPr>
          <p:cNvSpPr>
            <a:spLocks xmlns:a="http://schemas.openxmlformats.org/drawingml/2006/main" noGrp="1"/>
          </p:cNvSpPr>
          <p:nvPr/>
        </p:nvSpPr>
        <p:spPr>
          <a:xfrm xmlns:a="http://schemas.openxmlformats.org/drawingml/2006/main">
            <a:off x="3743325" y="3181350"/>
            <a:ext cx="3048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defRPr sz="1200" b="1">
                <a:solidFill>
                  <a:srgbClr val="FFFFFF"/>
                </a:solidFill>
              </a:defRPr>
            </a:pPr>
            <a:r>
              <a:rPr sz="1200" b="1">
                <a:solidFill>
                  <a:srgbClr val="FFFFFF"/>
                </a:solidFill>
              </a:rPr>
              <a:t>2</a:t>
            </a:r>
          </a:p>
        </p:txBody>
      </p:sp>
      <p:sp>
        <p:nvSpPr>
          <p:cNvPr id="12" name="">
            <a:extLst xmlns:a="http://schemas.openxmlformats.org/drawingml/2006/main">
              <a:ext uri="{FF2B5EF4-FFF2-40B4-BE49-F238E27FC236}">
                <a16:creationId xmlns:a16="http://schemas.microsoft.com/office/drawing/2014/main" id="{F6475F2A-1C52-4A94-AD89-BFC3ADF895F3}"/>
              </a:ext>
            </a:extLst>
          </p:cNvPr>
          <p:cNvSpPr>
            <a:spLocks xmlns:a="http://schemas.openxmlformats.org/drawingml/2006/main" noGrp="1"/>
          </p:cNvSpPr>
          <p:nvPr/>
        </p:nvSpPr>
        <p:spPr>
          <a:xfrm xmlns:a="http://schemas.openxmlformats.org/drawingml/2006/main">
            <a:off x="3686175" y="3829050"/>
            <a:ext cx="219075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650" b="1">
                <a:solidFill>
                  <a:srgbClr val="101820"/>
                </a:solidFill>
              </a:defRPr>
            </a:pPr>
            <a:r>
              <a:rPr sz="1650" b="1">
                <a:solidFill>
                  <a:srgbClr val="101820"/>
                </a:solidFill>
              </a:rPr>
              <a:t>Verify by default</a:t>
            </a:r>
          </a:p>
        </p:txBody>
      </p:sp>
      <p:sp>
        <p:nvSpPr>
          <p:cNvPr id="13" name="">
            <a:extLst xmlns:a="http://schemas.openxmlformats.org/drawingml/2006/main">
              <a:ext uri="{FF2B5EF4-FFF2-40B4-BE49-F238E27FC236}">
                <a16:creationId xmlns:a16="http://schemas.microsoft.com/office/drawing/2014/main" id="{BEC5D37A-9EC1-48DC-BEE7-A4B1BF2889D4}"/>
              </a:ext>
            </a:extLst>
          </p:cNvPr>
          <p:cNvSpPr>
            <a:spLocks xmlns:a="http://schemas.openxmlformats.org/drawingml/2006/main" noGrp="1"/>
          </p:cNvSpPr>
          <p:nvPr/>
        </p:nvSpPr>
        <p:spPr>
          <a:xfrm xmlns:a="http://schemas.openxmlformats.org/drawingml/2006/main">
            <a:off x="3686175" y="4305300"/>
            <a:ext cx="2095500" cy="876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275" b="0">
                <a:solidFill>
                  <a:srgbClr val="65747F"/>
                </a:solidFill>
              </a:defRPr>
            </a:pPr>
            <a:r>
              <a:rPr sz="1275" b="0">
                <a:solidFill>
                  <a:srgbClr val="65747F"/>
                </a:solidFill>
              </a:rPr>
              <a:t>Every AI claim begins in the to-verify state.</a:t>
            </a:r>
          </a:p>
        </p:txBody>
      </p:sp>
      <p:sp>
        <p:nvSpPr>
          <p:cNvPr id="14" name="">
            <a:extLst xmlns:a="http://schemas.openxmlformats.org/drawingml/2006/main">
              <a:ext uri="{FF2B5EF4-FFF2-40B4-BE49-F238E27FC236}">
                <a16:creationId xmlns:a16="http://schemas.microsoft.com/office/drawing/2014/main" id="{35436F5C-7946-4A67-9C97-C8EA7C1540A7}"/>
              </a:ext>
            </a:extLst>
          </p:cNvPr>
          <p:cNvSpPr>
            <a:spLocks xmlns:a="http://schemas.openxmlformats.org/drawingml/2006/main" noGrp="1"/>
          </p:cNvSpPr>
          <p:nvPr/>
        </p:nvSpPr>
        <p:spPr>
          <a:xfrm xmlns:a="http://schemas.openxmlformats.org/drawingml/2006/main">
            <a:off x="6448425" y="3105150"/>
            <a:ext cx="419100" cy="419100"/>
          </a:xfrm>
          <a:prstGeom xmlns:a="http://schemas.openxmlformats.org/drawingml/2006/main" prst="ellipse">
            <a:avLst/>
          </a:prstGeom>
          <a:solidFill xmlns:a="http://schemas.openxmlformats.org/drawingml/2006/main">
            <a:srgbClr val="101820"/>
          </a:solidFill>
          <a:ln xmlns:a="http://schemas.openxmlformats.org/drawingml/2006/main" w="0">
            <a:solidFill>
              <a:srgbClr val="101820"/>
            </a:solidFill>
            <a:prstDash val="solid"/>
          </a:ln>
        </p:spPr>
      </p:sp>
      <p:sp>
        <p:nvSpPr>
          <p:cNvPr id="15" name="">
            <a:extLst xmlns:a="http://schemas.openxmlformats.org/drawingml/2006/main">
              <a:ext uri="{FF2B5EF4-FFF2-40B4-BE49-F238E27FC236}">
                <a16:creationId xmlns:a16="http://schemas.microsoft.com/office/drawing/2014/main" id="{90758329-BE73-453F-93D7-4F460E311AEA}"/>
              </a:ext>
            </a:extLst>
          </p:cNvPr>
          <p:cNvSpPr>
            <a:spLocks xmlns:a="http://schemas.openxmlformats.org/drawingml/2006/main" noGrp="1"/>
          </p:cNvSpPr>
          <p:nvPr/>
        </p:nvSpPr>
        <p:spPr>
          <a:xfrm xmlns:a="http://schemas.openxmlformats.org/drawingml/2006/main">
            <a:off x="6505575" y="3181350"/>
            <a:ext cx="3048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defRPr sz="1200" b="1">
                <a:solidFill>
                  <a:srgbClr val="FFFFFF"/>
                </a:solidFill>
              </a:defRPr>
            </a:pPr>
            <a:r>
              <a:rPr sz="1200" b="1">
                <a:solidFill>
                  <a:srgbClr val="FFFFFF"/>
                </a:solidFill>
              </a:rPr>
              <a:t>3</a:t>
            </a:r>
          </a:p>
        </p:txBody>
      </p:sp>
      <p:sp>
        <p:nvSpPr>
          <p:cNvPr id="16" name="">
            <a:extLst xmlns:a="http://schemas.openxmlformats.org/drawingml/2006/main">
              <a:ext uri="{FF2B5EF4-FFF2-40B4-BE49-F238E27FC236}">
                <a16:creationId xmlns:a16="http://schemas.microsoft.com/office/drawing/2014/main" id="{EA5EB366-F102-4ACA-A6A7-23E089A83EBA}"/>
              </a:ext>
            </a:extLst>
          </p:cNvPr>
          <p:cNvSpPr>
            <a:spLocks xmlns:a="http://schemas.openxmlformats.org/drawingml/2006/main" noGrp="1"/>
          </p:cNvSpPr>
          <p:nvPr/>
        </p:nvSpPr>
        <p:spPr>
          <a:xfrm xmlns:a="http://schemas.openxmlformats.org/drawingml/2006/main">
            <a:off x="6448425" y="3829050"/>
            <a:ext cx="219075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650" b="1">
                <a:solidFill>
                  <a:srgbClr val="101820"/>
                </a:solidFill>
              </a:defRPr>
            </a:pPr>
            <a:r>
              <a:rPr sz="1650" b="1">
                <a:solidFill>
                  <a:srgbClr val="101820"/>
                </a:solidFill>
              </a:rPr>
              <a:t>Evidence only</a:t>
            </a:r>
          </a:p>
        </p:txBody>
      </p:sp>
      <p:sp>
        <p:nvSpPr>
          <p:cNvPr id="17" name="">
            <a:extLst xmlns:a="http://schemas.openxmlformats.org/drawingml/2006/main">
              <a:ext uri="{FF2B5EF4-FFF2-40B4-BE49-F238E27FC236}">
                <a16:creationId xmlns:a16="http://schemas.microsoft.com/office/drawing/2014/main" id="{71E0EB68-5531-4005-B0F5-7036C3A2E014}"/>
              </a:ext>
            </a:extLst>
          </p:cNvPr>
          <p:cNvSpPr>
            <a:spLocks xmlns:a="http://schemas.openxmlformats.org/drawingml/2006/main" noGrp="1"/>
          </p:cNvSpPr>
          <p:nvPr/>
        </p:nvSpPr>
        <p:spPr>
          <a:xfrm xmlns:a="http://schemas.openxmlformats.org/drawingml/2006/main">
            <a:off x="6448425" y="4305300"/>
            <a:ext cx="2095500" cy="876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275" b="0">
                <a:solidFill>
                  <a:srgbClr val="65747F"/>
                </a:solidFill>
              </a:defRPr>
            </a:pPr>
            <a:r>
              <a:rPr sz="1275" b="0">
                <a:solidFill>
                  <a:srgbClr val="65747F"/>
                </a:solidFill>
              </a:rPr>
              <a:t>The case title and interface context are never treated as facts.</a:t>
            </a:r>
          </a:p>
        </p:txBody>
      </p:sp>
      <p:sp>
        <p:nvSpPr>
          <p:cNvPr id="18" name="">
            <a:extLst xmlns:a="http://schemas.openxmlformats.org/drawingml/2006/main">
              <a:ext uri="{FF2B5EF4-FFF2-40B4-BE49-F238E27FC236}">
                <a16:creationId xmlns:a16="http://schemas.microsoft.com/office/drawing/2014/main" id="{83540EDB-76D3-4BFA-AEC9-C3B1700C61ED}"/>
              </a:ext>
            </a:extLst>
          </p:cNvPr>
          <p:cNvSpPr>
            <a:spLocks xmlns:a="http://schemas.openxmlformats.org/drawingml/2006/main" noGrp="1"/>
          </p:cNvSpPr>
          <p:nvPr/>
        </p:nvSpPr>
        <p:spPr>
          <a:xfrm xmlns:a="http://schemas.openxmlformats.org/drawingml/2006/main">
            <a:off x="9210675" y="3105150"/>
            <a:ext cx="419100" cy="419100"/>
          </a:xfrm>
          <a:prstGeom xmlns:a="http://schemas.openxmlformats.org/drawingml/2006/main" prst="ellipse">
            <a:avLst/>
          </a:prstGeom>
          <a:solidFill xmlns:a="http://schemas.openxmlformats.org/drawingml/2006/main">
            <a:srgbClr val="25845F"/>
          </a:solidFill>
          <a:ln xmlns:a="http://schemas.openxmlformats.org/drawingml/2006/main" w="0">
            <a:solidFill>
              <a:srgbClr val="25845F"/>
            </a:solidFill>
            <a:prstDash val="solid"/>
          </a:ln>
        </p:spPr>
      </p:sp>
      <p:sp>
        <p:nvSpPr>
          <p:cNvPr id="19" name="">
            <a:extLst xmlns:a="http://schemas.openxmlformats.org/drawingml/2006/main">
              <a:ext uri="{FF2B5EF4-FFF2-40B4-BE49-F238E27FC236}">
                <a16:creationId xmlns:a16="http://schemas.microsoft.com/office/drawing/2014/main" id="{2D91B1E7-1A8F-44A7-8574-122234391CE8}"/>
              </a:ext>
            </a:extLst>
          </p:cNvPr>
          <p:cNvSpPr>
            <a:spLocks xmlns:a="http://schemas.openxmlformats.org/drawingml/2006/main" noGrp="1"/>
          </p:cNvSpPr>
          <p:nvPr/>
        </p:nvSpPr>
        <p:spPr>
          <a:xfrm xmlns:a="http://schemas.openxmlformats.org/drawingml/2006/main">
            <a:off x="9267825" y="3181350"/>
            <a:ext cx="3048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defRPr sz="1200" b="1">
                <a:solidFill>
                  <a:srgbClr val="FFFFFF"/>
                </a:solidFill>
              </a:defRPr>
            </a:pPr>
            <a:r>
              <a:rPr sz="1200" b="1">
                <a:solidFill>
                  <a:srgbClr val="FFFFFF"/>
                </a:solidFill>
              </a:rPr>
              <a:t>4</a:t>
            </a:r>
          </a:p>
        </p:txBody>
      </p:sp>
      <p:sp>
        <p:nvSpPr>
          <p:cNvPr id="20" name="">
            <a:extLst xmlns:a="http://schemas.openxmlformats.org/drawingml/2006/main">
              <a:ext uri="{FF2B5EF4-FFF2-40B4-BE49-F238E27FC236}">
                <a16:creationId xmlns:a16="http://schemas.microsoft.com/office/drawing/2014/main" id="{90E8F641-D657-4390-B8E9-867BB7836C5A}"/>
              </a:ext>
            </a:extLst>
          </p:cNvPr>
          <p:cNvSpPr>
            <a:spLocks xmlns:a="http://schemas.openxmlformats.org/drawingml/2006/main" noGrp="1"/>
          </p:cNvSpPr>
          <p:nvPr/>
        </p:nvSpPr>
        <p:spPr>
          <a:xfrm xmlns:a="http://schemas.openxmlformats.org/drawingml/2006/main">
            <a:off x="9210675" y="3829050"/>
            <a:ext cx="219075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650" b="1">
                <a:solidFill>
                  <a:srgbClr val="101820"/>
                </a:solidFill>
              </a:defRPr>
            </a:pPr>
            <a:r>
              <a:rPr sz="1650" b="1">
                <a:solidFill>
                  <a:srgbClr val="101820"/>
                </a:solidFill>
              </a:rPr>
              <a:t>Human approval</a:t>
            </a:r>
          </a:p>
        </p:txBody>
      </p:sp>
      <p:sp>
        <p:nvSpPr>
          <p:cNvPr id="21" name="">
            <a:extLst xmlns:a="http://schemas.openxmlformats.org/drawingml/2006/main">
              <a:ext uri="{FF2B5EF4-FFF2-40B4-BE49-F238E27FC236}">
                <a16:creationId xmlns:a16="http://schemas.microsoft.com/office/drawing/2014/main" id="{9D46DE96-DC10-4413-859B-15EFEDC2CAB3}"/>
              </a:ext>
            </a:extLst>
          </p:cNvPr>
          <p:cNvSpPr>
            <a:spLocks xmlns:a="http://schemas.openxmlformats.org/drawingml/2006/main" noGrp="1"/>
          </p:cNvSpPr>
          <p:nvPr/>
        </p:nvSpPr>
        <p:spPr>
          <a:xfrm xmlns:a="http://schemas.openxmlformats.org/drawingml/2006/main">
            <a:off x="9210675" y="4305300"/>
            <a:ext cx="2095500" cy="876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275" b="0">
                <a:solidFill>
                  <a:srgbClr val="65747F"/>
                </a:solidFill>
              </a:defRPr>
            </a:pPr>
            <a:r>
              <a:rPr sz="1275" b="0">
                <a:solidFill>
                  <a:srgbClr val="65747F"/>
                </a:solidFill>
              </a:rPr>
              <a:t>Only confirmed claims can enter the publication brief.</a:t>
            </a:r>
          </a:p>
        </p:txBody>
      </p:sp>
      <p:sp>
        <p:nvSpPr>
          <p:cNvPr id="22" name="">
            <a:extLst xmlns:a="http://schemas.openxmlformats.org/drawingml/2006/main">
              <a:ext uri="{FF2B5EF4-FFF2-40B4-BE49-F238E27FC236}">
                <a16:creationId xmlns:a16="http://schemas.microsoft.com/office/drawing/2014/main" id="{6AF18F00-18FE-409D-AC8A-691F5ACA0CEE}"/>
              </a:ext>
            </a:extLst>
          </p:cNvPr>
          <p:cNvSpPr>
            <a:spLocks xmlns:a="http://schemas.openxmlformats.org/drawingml/2006/main" noGrp="1"/>
          </p:cNvSpPr>
          <p:nvPr/>
        </p:nvSpPr>
        <p:spPr>
          <a:xfrm xmlns:a="http://schemas.openxmlformats.org/drawingml/2006/main">
            <a:off x="514350" y="5676900"/>
            <a:ext cx="11106150" cy="533400"/>
          </a:xfrm>
          <a:prstGeom xmlns:a="http://schemas.openxmlformats.org/drawingml/2006/main" prst="rect">
            <a:avLst/>
          </a:prstGeom>
          <a:solidFill xmlns:a="http://schemas.openxmlformats.org/drawingml/2006/main">
            <a:srgbClr val="DDF1E8"/>
          </a:solidFill>
          <a:ln xmlns:a="http://schemas.openxmlformats.org/drawingml/2006/main" w="0">
            <a:solidFill>
              <a:srgbClr val="DDF1E8"/>
            </a:solidFill>
            <a:prstDash val="solid"/>
          </a:ln>
        </p:spPr>
      </p:sp>
      <p:sp>
        <p:nvSpPr>
          <p:cNvPr id="23" name="">
            <a:extLst xmlns:a="http://schemas.openxmlformats.org/drawingml/2006/main">
              <a:ext uri="{FF2B5EF4-FFF2-40B4-BE49-F238E27FC236}">
                <a16:creationId xmlns:a16="http://schemas.microsoft.com/office/drawing/2014/main" id="{14294CE5-B02F-4148-878C-03741A579225}"/>
              </a:ext>
            </a:extLst>
          </p:cNvPr>
          <p:cNvSpPr>
            <a:spLocks xmlns:a="http://schemas.openxmlformats.org/drawingml/2006/main" noGrp="1"/>
          </p:cNvSpPr>
          <p:nvPr/>
        </p:nvSpPr>
        <p:spPr>
          <a:xfrm xmlns:a="http://schemas.openxmlformats.org/drawingml/2006/main">
            <a:off x="762000" y="5829300"/>
            <a:ext cx="105727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defRPr sz="1500" b="1">
                <a:solidFill>
                  <a:srgbClr val="25845F"/>
                </a:solidFill>
              </a:defRPr>
            </a:pPr>
            <a:r>
              <a:rPr sz="1500" b="1">
                <a:solidFill>
                  <a:srgbClr val="25845F"/>
                </a:solidFill>
              </a:rPr>
              <a:t>Publication copy is deterministic and assembled from approved claim text only.</a:t>
            </a:r>
          </a:p>
        </p:txBody>
      </p:sp>
      <p:sp>
        <p:nvSpPr>
          <p:cNvPr id="24" name="">
            <a:extLst xmlns:a="http://schemas.openxmlformats.org/drawingml/2006/main">
              <a:ext uri="{FF2B5EF4-FFF2-40B4-BE49-F238E27FC236}">
                <a16:creationId xmlns:a16="http://schemas.microsoft.com/office/drawing/2014/main" id="{BFD86ECE-8624-422A-A54B-BFA003F54841}"/>
              </a:ext>
            </a:extLst>
          </p:cNvPr>
          <p:cNvSpPr>
            <a:spLocks xmlns:a="http://schemas.openxmlformats.org/drawingml/2006/main" noGrp="1"/>
          </p:cNvSpPr>
          <p:nvPr/>
        </p:nvSpPr>
        <p:spPr>
          <a:xfrm xmlns:a="http://schemas.openxmlformats.org/drawingml/2006/main">
            <a:off x="514350" y="6515100"/>
            <a:ext cx="40957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900" b="1">
                <a:solidFill>
                  <a:srgbClr val="65747F"/>
                </a:solidFill>
              </a:defRPr>
            </a:pPr>
            <a:r>
              <a:rPr sz="900" b="1">
                <a:solidFill>
                  <a:srgbClr val="65747F"/>
                </a:solidFill>
              </a:rPr>
              <a:t>LIVEBRIEF  /  EPITECH HACKATHON</a:t>
            </a:r>
          </a:p>
        </p:txBody>
      </p:sp>
      <p:sp>
        <p:nvSpPr>
          <p:cNvPr id="25" name="">
            <a:extLst xmlns:a="http://schemas.openxmlformats.org/drawingml/2006/main">
              <a:ext uri="{FF2B5EF4-FFF2-40B4-BE49-F238E27FC236}">
                <a16:creationId xmlns:a16="http://schemas.microsoft.com/office/drawing/2014/main" id="{617C8FED-A353-4080-8B02-0A25E2A86517}"/>
              </a:ext>
            </a:extLst>
          </p:cNvPr>
          <p:cNvSpPr>
            <a:spLocks xmlns:a="http://schemas.openxmlformats.org/drawingml/2006/main" noGrp="1"/>
          </p:cNvSpPr>
          <p:nvPr/>
        </p:nvSpPr>
        <p:spPr>
          <a:xfrm xmlns:a="http://schemas.openxmlformats.org/drawingml/2006/main">
            <a:off x="11334750" y="6496050"/>
            <a:ext cx="3429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r">
              <a:defRPr sz="900" b="1">
                <a:solidFill>
                  <a:srgbClr val="65747F"/>
                </a:solidFill>
              </a:defRPr>
            </a:pPr>
            <a:r>
              <a:rPr sz="900" b="1">
                <a:solidFill>
                  <a:srgbClr val="65747F"/>
                </a:solidFill>
              </a:rPr>
              <a:t>05</a:t>
            </a:r>
          </a:p>
        </p:txBody>
      </p:sp>
    </p:spTree>
    <p:extLst>
      <p:ext uri="{BB962C8B-B14F-4D97-AF65-F5344CB8AC3E}">
        <p14:creationId xmlns:p14="http://schemas.microsoft.com/office/powerpoint/2010/main" val="1687480978"/>
      </p:ext>
    </p:extLst>
  </p:cSld>
</p:sld>
</file>

<file path=ppt/slides/slide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 name="">
            <a:extLst xmlns:a="http://schemas.openxmlformats.org/drawingml/2006/main">
              <a:ext uri="{FF2B5EF4-FFF2-40B4-BE49-F238E27FC236}">
                <a16:creationId xmlns:a16="http://schemas.microsoft.com/office/drawing/2014/main" id="{E412CAF4-AEB5-444B-9B57-92F8C7D9799B}"/>
              </a:ext>
            </a:extLst>
          </p:cNvPr>
          <p:cNvSpPr>
            <a:spLocks xmlns:a="http://schemas.openxmlformats.org/drawingml/2006/main" noGrp="1"/>
          </p:cNvSpPr>
          <p:nvPr/>
        </p:nvSpPr>
        <p:spPr>
          <a:xfrm xmlns:a="http://schemas.openxmlformats.org/drawingml/2006/main">
            <a:off x="514350" y="438150"/>
            <a:ext cx="76200" cy="209550"/>
          </a:xfrm>
          <a:prstGeom xmlns:a="http://schemas.openxmlformats.org/drawingml/2006/main" prst="rect">
            <a:avLst/>
          </a:prstGeom>
          <a:solidFill xmlns:a="http://schemas.openxmlformats.org/drawingml/2006/main">
            <a:srgbClr val="2D6F9F"/>
          </a:solidFill>
          <a:ln xmlns:a="http://schemas.openxmlformats.org/drawingml/2006/main" w="0">
            <a:solidFill>
              <a:srgbClr val="2D6F9F"/>
            </a:solidFill>
            <a:prstDash val="solid"/>
          </a:ln>
        </p:spPr>
      </p:sp>
      <p:sp>
        <p:nvSpPr>
          <p:cNvPr id="2" name="">
            <a:extLst xmlns:a="http://schemas.openxmlformats.org/drawingml/2006/main">
              <a:ext uri="{FF2B5EF4-FFF2-40B4-BE49-F238E27FC236}">
                <a16:creationId xmlns:a16="http://schemas.microsoft.com/office/drawing/2014/main" id="{752393A4-8612-493D-AE70-74CCF75D99E7}"/>
              </a:ext>
            </a:extLst>
          </p:cNvPr>
          <p:cNvSpPr>
            <a:spLocks xmlns:a="http://schemas.openxmlformats.org/drawingml/2006/main" noGrp="1"/>
          </p:cNvSpPr>
          <p:nvPr/>
        </p:nvSpPr>
        <p:spPr>
          <a:xfrm xmlns:a="http://schemas.openxmlformats.org/drawingml/2006/main">
            <a:off x="723900" y="409575"/>
            <a:ext cx="49530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200" b="1">
                <a:solidFill>
                  <a:srgbClr val="2D6F9F"/>
                </a:solidFill>
              </a:defRPr>
            </a:pPr>
            <a:r>
              <a:rPr sz="1200" b="1">
                <a:solidFill>
                  <a:srgbClr val="2D6F9F"/>
                </a:solidFill>
              </a:rPr>
              <a:t>PROOF</a:t>
            </a:r>
          </a:p>
        </p:txBody>
      </p:sp>
      <p:sp>
        <p:nvSpPr>
          <p:cNvPr id="3" name="">
            <a:extLst xmlns:a="http://schemas.openxmlformats.org/drawingml/2006/main">
              <a:ext uri="{FF2B5EF4-FFF2-40B4-BE49-F238E27FC236}">
                <a16:creationId xmlns:a16="http://schemas.microsoft.com/office/drawing/2014/main" id="{7C8A0FC2-1B9C-453F-A3CD-06917428163B}"/>
              </a:ext>
            </a:extLst>
          </p:cNvPr>
          <p:cNvSpPr>
            <a:spLocks xmlns:a="http://schemas.openxmlformats.org/drawingml/2006/main" noGrp="1"/>
          </p:cNvSpPr>
          <p:nvPr/>
        </p:nvSpPr>
        <p:spPr>
          <a:xfrm xmlns:a="http://schemas.openxmlformats.org/drawingml/2006/main">
            <a:off x="514350" y="914400"/>
            <a:ext cx="1000125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3450" b="1">
                <a:solidFill>
                  <a:srgbClr val="101820"/>
                </a:solidFill>
              </a:defRPr>
            </a:pPr>
            <a:r>
              <a:rPr sz="3450" b="1">
                <a:solidFill>
                  <a:srgbClr val="101820"/>
                </a:solidFill>
              </a:rPr>
              <a:t>We tested the full path, not just the interface.</a:t>
            </a:r>
          </a:p>
        </p:txBody>
      </p:sp>
      <p:sp>
        <p:nvSpPr>
          <p:cNvPr id="4" name="">
            <a:extLst xmlns:a="http://schemas.openxmlformats.org/drawingml/2006/main">
              <a:ext uri="{FF2B5EF4-FFF2-40B4-BE49-F238E27FC236}">
                <a16:creationId xmlns:a16="http://schemas.microsoft.com/office/drawing/2014/main" id="{00DCFCF4-5586-48B4-8AA6-609BB953BDB7}"/>
              </a:ext>
            </a:extLst>
          </p:cNvPr>
          <p:cNvSpPr>
            <a:spLocks xmlns:a="http://schemas.openxmlformats.org/drawingml/2006/main" noGrp="1"/>
          </p:cNvSpPr>
          <p:nvPr/>
        </p:nvSpPr>
        <p:spPr>
          <a:xfrm xmlns:a="http://schemas.openxmlformats.org/drawingml/2006/main">
            <a:off x="514350" y="1581150"/>
            <a:ext cx="80962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575" b="0">
                <a:solidFill>
                  <a:srgbClr val="65747F"/>
                </a:solidFill>
              </a:defRPr>
            </a:pPr>
            <a:r>
              <a:rPr sz="1575" b="0">
                <a:solidFill>
                  <a:srgbClr val="65747F"/>
                </a:solidFill>
              </a:rPr>
              <a:t>The backend, AI call and browser workflow all completed successfully.</a:t>
            </a:r>
          </a:p>
        </p:txBody>
      </p:sp>
      <p:sp>
        <p:nvSpPr>
          <p:cNvPr id="5" name="">
            <a:extLst xmlns:a="http://schemas.openxmlformats.org/drawingml/2006/main">
              <a:ext uri="{FF2B5EF4-FFF2-40B4-BE49-F238E27FC236}">
                <a16:creationId xmlns:a16="http://schemas.microsoft.com/office/drawing/2014/main" id="{6B7EA6FE-195A-4E52-8CBB-D5535F74261F}"/>
              </a:ext>
            </a:extLst>
          </p:cNvPr>
          <p:cNvSpPr>
            <a:spLocks xmlns:a="http://schemas.openxmlformats.org/drawingml/2006/main" noGrp="1"/>
          </p:cNvSpPr>
          <p:nvPr/>
        </p:nvSpPr>
        <p:spPr>
          <a:xfrm xmlns:a="http://schemas.openxmlformats.org/drawingml/2006/main">
            <a:off x="514350" y="2505075"/>
            <a:ext cx="2457450" cy="2571750"/>
          </a:xfrm>
          <a:prstGeom xmlns:a="http://schemas.openxmlformats.org/drawingml/2006/main" prst="rect">
            <a:avLst/>
          </a:prstGeom>
          <a:solidFill xmlns:a="http://schemas.openxmlformats.org/drawingml/2006/main">
            <a:srgbClr val="F5F7F8"/>
          </a:solidFill>
          <a:ln xmlns:a="http://schemas.openxmlformats.org/drawingml/2006/main" w="9525">
            <a:solidFill>
              <a:srgbClr val="C8D1D7"/>
            </a:solidFill>
            <a:prstDash val="solid"/>
          </a:ln>
        </p:spPr>
      </p:sp>
      <p:sp>
        <p:nvSpPr>
          <p:cNvPr id="6" name="">
            <a:extLst xmlns:a="http://schemas.openxmlformats.org/drawingml/2006/main">
              <a:ext uri="{FF2B5EF4-FFF2-40B4-BE49-F238E27FC236}">
                <a16:creationId xmlns:a16="http://schemas.microsoft.com/office/drawing/2014/main" id="{DCE96682-759F-4D21-935A-67BAA10F4CAD}"/>
              </a:ext>
            </a:extLst>
          </p:cNvPr>
          <p:cNvSpPr>
            <a:spLocks xmlns:a="http://schemas.openxmlformats.org/drawingml/2006/main" noGrp="1"/>
          </p:cNvSpPr>
          <p:nvPr/>
        </p:nvSpPr>
        <p:spPr>
          <a:xfrm xmlns:a="http://schemas.openxmlformats.org/drawingml/2006/main">
            <a:off x="514350" y="2505075"/>
            <a:ext cx="2457450" cy="76200"/>
          </a:xfrm>
          <a:prstGeom xmlns:a="http://schemas.openxmlformats.org/drawingml/2006/main" prst="rect">
            <a:avLst/>
          </a:prstGeom>
          <a:solidFill xmlns:a="http://schemas.openxmlformats.org/drawingml/2006/main">
            <a:srgbClr val="2D6F9F"/>
          </a:solidFill>
          <a:ln xmlns:a="http://schemas.openxmlformats.org/drawingml/2006/main" w="0">
            <a:solidFill>
              <a:srgbClr val="2D6F9F"/>
            </a:solidFill>
            <a:prstDash val="solid"/>
          </a:ln>
        </p:spPr>
      </p:sp>
      <p:sp>
        <p:nvSpPr>
          <p:cNvPr id="7" name="">
            <a:extLst xmlns:a="http://schemas.openxmlformats.org/drawingml/2006/main">
              <a:ext uri="{FF2B5EF4-FFF2-40B4-BE49-F238E27FC236}">
                <a16:creationId xmlns:a16="http://schemas.microsoft.com/office/drawing/2014/main" id="{5ADBFD65-0889-4BEA-9705-1A3C65B255DA}"/>
              </a:ext>
            </a:extLst>
          </p:cNvPr>
          <p:cNvSpPr>
            <a:spLocks xmlns:a="http://schemas.openxmlformats.org/drawingml/2006/main" noGrp="1"/>
          </p:cNvSpPr>
          <p:nvPr/>
        </p:nvSpPr>
        <p:spPr>
          <a:xfrm xmlns:a="http://schemas.openxmlformats.org/drawingml/2006/main">
            <a:off x="742950" y="2886075"/>
            <a:ext cx="2000250" cy="876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5250" b="1">
                <a:solidFill>
                  <a:srgbClr val="2D6F9F"/>
                </a:solidFill>
              </a:defRPr>
            </a:pPr>
            <a:r>
              <a:rPr sz="5250" b="1">
                <a:solidFill>
                  <a:srgbClr val="2D6F9F"/>
                </a:solidFill>
              </a:rPr>
              <a:t>8</a:t>
            </a:r>
          </a:p>
        </p:txBody>
      </p:sp>
      <p:sp>
        <p:nvSpPr>
          <p:cNvPr id="8" name="">
            <a:extLst xmlns:a="http://schemas.openxmlformats.org/drawingml/2006/main">
              <a:ext uri="{FF2B5EF4-FFF2-40B4-BE49-F238E27FC236}">
                <a16:creationId xmlns:a16="http://schemas.microsoft.com/office/drawing/2014/main" id="{D12DDD86-F8C5-4446-90E9-4B0FB1517867}"/>
              </a:ext>
            </a:extLst>
          </p:cNvPr>
          <p:cNvSpPr>
            <a:spLocks xmlns:a="http://schemas.openxmlformats.org/drawingml/2006/main" noGrp="1"/>
          </p:cNvSpPr>
          <p:nvPr/>
        </p:nvSpPr>
        <p:spPr>
          <a:xfrm xmlns:a="http://schemas.openxmlformats.org/drawingml/2006/main">
            <a:off x="742950" y="3848100"/>
            <a:ext cx="20002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650" b="1">
                <a:solidFill>
                  <a:srgbClr val="101820"/>
                </a:solidFill>
              </a:defRPr>
            </a:pPr>
            <a:r>
              <a:rPr sz="1650" b="1">
                <a:solidFill>
                  <a:srgbClr val="101820"/>
                </a:solidFill>
              </a:rPr>
              <a:t>automated tests</a:t>
            </a:r>
          </a:p>
        </p:txBody>
      </p:sp>
      <p:sp>
        <p:nvSpPr>
          <p:cNvPr id="9" name="">
            <a:extLst xmlns:a="http://schemas.openxmlformats.org/drawingml/2006/main">
              <a:ext uri="{FF2B5EF4-FFF2-40B4-BE49-F238E27FC236}">
                <a16:creationId xmlns:a16="http://schemas.microsoft.com/office/drawing/2014/main" id="{C4829280-6FB9-491D-B596-3C2C92E46BC6}"/>
              </a:ext>
            </a:extLst>
          </p:cNvPr>
          <p:cNvSpPr>
            <a:spLocks xmlns:a="http://schemas.openxmlformats.org/drawingml/2006/main" noGrp="1"/>
          </p:cNvSpPr>
          <p:nvPr/>
        </p:nvSpPr>
        <p:spPr>
          <a:xfrm xmlns:a="http://schemas.openxmlformats.org/drawingml/2006/main">
            <a:off x="742950" y="4362450"/>
            <a:ext cx="1952625"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200" b="0">
                <a:solidFill>
                  <a:srgbClr val="65747F"/>
                </a:solidFill>
              </a:defRPr>
            </a:pPr>
            <a:r>
              <a:rPr sz="1200" b="0">
                <a:solidFill>
                  <a:srgbClr val="65747F"/>
                </a:solidFill>
              </a:rPr>
              <a:t>Pipeline, API, security and safety</a:t>
            </a:r>
          </a:p>
        </p:txBody>
      </p:sp>
      <p:sp>
        <p:nvSpPr>
          <p:cNvPr id="10" name="">
            <a:extLst xmlns:a="http://schemas.openxmlformats.org/drawingml/2006/main">
              <a:ext uri="{FF2B5EF4-FFF2-40B4-BE49-F238E27FC236}">
                <a16:creationId xmlns:a16="http://schemas.microsoft.com/office/drawing/2014/main" id="{FF47696C-920B-410C-BAEC-1E2F5E338ACA}"/>
              </a:ext>
            </a:extLst>
          </p:cNvPr>
          <p:cNvSpPr>
            <a:spLocks xmlns:a="http://schemas.openxmlformats.org/drawingml/2006/main" noGrp="1"/>
          </p:cNvSpPr>
          <p:nvPr/>
        </p:nvSpPr>
        <p:spPr>
          <a:xfrm xmlns:a="http://schemas.openxmlformats.org/drawingml/2006/main">
            <a:off x="3352800" y="2505075"/>
            <a:ext cx="2457450" cy="2571750"/>
          </a:xfrm>
          <a:prstGeom xmlns:a="http://schemas.openxmlformats.org/drawingml/2006/main" prst="rect">
            <a:avLst/>
          </a:prstGeom>
          <a:solidFill xmlns:a="http://schemas.openxmlformats.org/drawingml/2006/main">
            <a:srgbClr val="F5F7F8"/>
          </a:solidFill>
          <a:ln xmlns:a="http://schemas.openxmlformats.org/drawingml/2006/main" w="9525">
            <a:solidFill>
              <a:srgbClr val="C8D1D7"/>
            </a:solidFill>
            <a:prstDash val="solid"/>
          </a:ln>
        </p:spPr>
      </p:sp>
      <p:sp>
        <p:nvSpPr>
          <p:cNvPr id="11" name="">
            <a:extLst xmlns:a="http://schemas.openxmlformats.org/drawingml/2006/main">
              <a:ext uri="{FF2B5EF4-FFF2-40B4-BE49-F238E27FC236}">
                <a16:creationId xmlns:a16="http://schemas.microsoft.com/office/drawing/2014/main" id="{9FFFA991-67CD-4ED4-BA0B-3CCE266C25E0}"/>
              </a:ext>
            </a:extLst>
          </p:cNvPr>
          <p:cNvSpPr>
            <a:spLocks xmlns:a="http://schemas.openxmlformats.org/drawingml/2006/main" noGrp="1"/>
          </p:cNvSpPr>
          <p:nvPr/>
        </p:nvSpPr>
        <p:spPr>
          <a:xfrm xmlns:a="http://schemas.openxmlformats.org/drawingml/2006/main">
            <a:off x="3352800" y="2505075"/>
            <a:ext cx="2457450" cy="76200"/>
          </a:xfrm>
          <a:prstGeom xmlns:a="http://schemas.openxmlformats.org/drawingml/2006/main" prst="rect">
            <a:avLst/>
          </a:prstGeom>
          <a:solidFill xmlns:a="http://schemas.openxmlformats.org/drawingml/2006/main">
            <a:srgbClr val="F0642B"/>
          </a:solidFill>
          <a:ln xmlns:a="http://schemas.openxmlformats.org/drawingml/2006/main" w="0">
            <a:solidFill>
              <a:srgbClr val="F0642B"/>
            </a:solidFill>
            <a:prstDash val="solid"/>
          </a:ln>
        </p:spPr>
      </p:sp>
      <p:sp>
        <p:nvSpPr>
          <p:cNvPr id="12" name="">
            <a:extLst xmlns:a="http://schemas.openxmlformats.org/drawingml/2006/main">
              <a:ext uri="{FF2B5EF4-FFF2-40B4-BE49-F238E27FC236}">
                <a16:creationId xmlns:a16="http://schemas.microsoft.com/office/drawing/2014/main" id="{8B3B7683-1E51-485C-AD71-975C9FCD7B23}"/>
              </a:ext>
            </a:extLst>
          </p:cNvPr>
          <p:cNvSpPr>
            <a:spLocks xmlns:a="http://schemas.openxmlformats.org/drawingml/2006/main" noGrp="1"/>
          </p:cNvSpPr>
          <p:nvPr/>
        </p:nvSpPr>
        <p:spPr>
          <a:xfrm xmlns:a="http://schemas.openxmlformats.org/drawingml/2006/main">
            <a:off x="3581400" y="2886075"/>
            <a:ext cx="2000250" cy="876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5250" b="1">
                <a:solidFill>
                  <a:srgbClr val="F0642B"/>
                </a:solidFill>
              </a:defRPr>
            </a:pPr>
            <a:r>
              <a:rPr sz="5250" b="1">
                <a:solidFill>
                  <a:srgbClr val="F0642B"/>
                </a:solidFill>
              </a:rPr>
              <a:t>1</a:t>
            </a:r>
          </a:p>
        </p:txBody>
      </p:sp>
      <p:sp>
        <p:nvSpPr>
          <p:cNvPr id="13" name="">
            <a:extLst xmlns:a="http://schemas.openxmlformats.org/drawingml/2006/main">
              <a:ext uri="{FF2B5EF4-FFF2-40B4-BE49-F238E27FC236}">
                <a16:creationId xmlns:a16="http://schemas.microsoft.com/office/drawing/2014/main" id="{AE671ECB-9480-41D1-B239-F3FA095E6418}"/>
              </a:ext>
            </a:extLst>
          </p:cNvPr>
          <p:cNvSpPr>
            <a:spLocks xmlns:a="http://schemas.openxmlformats.org/drawingml/2006/main" noGrp="1"/>
          </p:cNvSpPr>
          <p:nvPr/>
        </p:nvSpPr>
        <p:spPr>
          <a:xfrm xmlns:a="http://schemas.openxmlformats.org/drawingml/2006/main">
            <a:off x="3581400" y="3848100"/>
            <a:ext cx="20002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650" b="1">
                <a:solidFill>
                  <a:srgbClr val="101820"/>
                </a:solidFill>
              </a:defRPr>
            </a:pPr>
            <a:r>
              <a:rPr sz="1650" b="1">
                <a:solidFill>
                  <a:srgbClr val="101820"/>
                </a:solidFill>
              </a:rPr>
              <a:t>real public article</a:t>
            </a:r>
          </a:p>
        </p:txBody>
      </p:sp>
      <p:sp>
        <p:nvSpPr>
          <p:cNvPr id="14" name="">
            <a:extLst xmlns:a="http://schemas.openxmlformats.org/drawingml/2006/main">
              <a:ext uri="{FF2B5EF4-FFF2-40B4-BE49-F238E27FC236}">
                <a16:creationId xmlns:a16="http://schemas.microsoft.com/office/drawing/2014/main" id="{D333E02A-BC1B-40AB-B264-E2D437F8AA33}"/>
              </a:ext>
            </a:extLst>
          </p:cNvPr>
          <p:cNvSpPr>
            <a:spLocks xmlns:a="http://schemas.openxmlformats.org/drawingml/2006/main" noGrp="1"/>
          </p:cNvSpPr>
          <p:nvPr/>
        </p:nvSpPr>
        <p:spPr>
          <a:xfrm xmlns:a="http://schemas.openxmlformats.org/drawingml/2006/main">
            <a:off x="3581400" y="4362450"/>
            <a:ext cx="1952625"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200" b="0">
                <a:solidFill>
                  <a:srgbClr val="65747F"/>
                </a:solidFill>
              </a:defRPr>
            </a:pPr>
            <a:r>
              <a:rPr sz="1200" b="0">
                <a:solidFill>
                  <a:srgbClr val="65747F"/>
                </a:solidFill>
              </a:rPr>
              <a:t>URL ingestion through AI analysis</a:t>
            </a:r>
          </a:p>
        </p:txBody>
      </p:sp>
      <p:sp>
        <p:nvSpPr>
          <p:cNvPr id="15" name="">
            <a:extLst xmlns:a="http://schemas.openxmlformats.org/drawingml/2006/main">
              <a:ext uri="{FF2B5EF4-FFF2-40B4-BE49-F238E27FC236}">
                <a16:creationId xmlns:a16="http://schemas.microsoft.com/office/drawing/2014/main" id="{8B17630B-DFC9-4DD5-8CE5-BA968D5BDC41}"/>
              </a:ext>
            </a:extLst>
          </p:cNvPr>
          <p:cNvSpPr>
            <a:spLocks xmlns:a="http://schemas.openxmlformats.org/drawingml/2006/main" noGrp="1"/>
          </p:cNvSpPr>
          <p:nvPr/>
        </p:nvSpPr>
        <p:spPr>
          <a:xfrm xmlns:a="http://schemas.openxmlformats.org/drawingml/2006/main">
            <a:off x="6191250" y="2505075"/>
            <a:ext cx="2457450" cy="2571750"/>
          </a:xfrm>
          <a:prstGeom xmlns:a="http://schemas.openxmlformats.org/drawingml/2006/main" prst="rect">
            <a:avLst/>
          </a:prstGeom>
          <a:solidFill xmlns:a="http://schemas.openxmlformats.org/drawingml/2006/main">
            <a:srgbClr val="F5F7F8"/>
          </a:solidFill>
          <a:ln xmlns:a="http://schemas.openxmlformats.org/drawingml/2006/main" w="9525">
            <a:solidFill>
              <a:srgbClr val="C8D1D7"/>
            </a:solidFill>
            <a:prstDash val="solid"/>
          </a:ln>
        </p:spPr>
      </p:sp>
      <p:sp>
        <p:nvSpPr>
          <p:cNvPr id="16" name="">
            <a:extLst xmlns:a="http://schemas.openxmlformats.org/drawingml/2006/main">
              <a:ext uri="{FF2B5EF4-FFF2-40B4-BE49-F238E27FC236}">
                <a16:creationId xmlns:a16="http://schemas.microsoft.com/office/drawing/2014/main" id="{BFF1A4D1-9A21-4C4F-865A-2363069A1F5B}"/>
              </a:ext>
            </a:extLst>
          </p:cNvPr>
          <p:cNvSpPr>
            <a:spLocks xmlns:a="http://schemas.openxmlformats.org/drawingml/2006/main" noGrp="1"/>
          </p:cNvSpPr>
          <p:nvPr/>
        </p:nvSpPr>
        <p:spPr>
          <a:xfrm xmlns:a="http://schemas.openxmlformats.org/drawingml/2006/main">
            <a:off x="6191250" y="2505075"/>
            <a:ext cx="2457450" cy="76200"/>
          </a:xfrm>
          <a:prstGeom xmlns:a="http://schemas.openxmlformats.org/drawingml/2006/main" prst="rect">
            <a:avLst/>
          </a:prstGeom>
          <a:solidFill xmlns:a="http://schemas.openxmlformats.org/drawingml/2006/main">
            <a:srgbClr val="25845F"/>
          </a:solidFill>
          <a:ln xmlns:a="http://schemas.openxmlformats.org/drawingml/2006/main" w="0">
            <a:solidFill>
              <a:srgbClr val="25845F"/>
            </a:solidFill>
            <a:prstDash val="solid"/>
          </a:ln>
        </p:spPr>
      </p:sp>
      <p:sp>
        <p:nvSpPr>
          <p:cNvPr id="17" name="">
            <a:extLst xmlns:a="http://schemas.openxmlformats.org/drawingml/2006/main">
              <a:ext uri="{FF2B5EF4-FFF2-40B4-BE49-F238E27FC236}">
                <a16:creationId xmlns:a16="http://schemas.microsoft.com/office/drawing/2014/main" id="{4502D788-44B5-470A-BC6F-74901FBDF16E}"/>
              </a:ext>
            </a:extLst>
          </p:cNvPr>
          <p:cNvSpPr>
            <a:spLocks xmlns:a="http://schemas.openxmlformats.org/drawingml/2006/main" noGrp="1"/>
          </p:cNvSpPr>
          <p:nvPr/>
        </p:nvSpPr>
        <p:spPr>
          <a:xfrm xmlns:a="http://schemas.openxmlformats.org/drawingml/2006/main">
            <a:off x="6419850" y="2886075"/>
            <a:ext cx="2000250" cy="876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5250" b="1">
                <a:solidFill>
                  <a:srgbClr val="25845F"/>
                </a:solidFill>
              </a:defRPr>
            </a:pPr>
            <a:r>
              <a:rPr sz="5250" b="1">
                <a:solidFill>
                  <a:srgbClr val="25845F"/>
                </a:solidFill>
              </a:rPr>
              <a:t>0</a:t>
            </a:r>
          </a:p>
        </p:txBody>
      </p:sp>
      <p:sp>
        <p:nvSpPr>
          <p:cNvPr id="18" name="">
            <a:extLst xmlns:a="http://schemas.openxmlformats.org/drawingml/2006/main">
              <a:ext uri="{FF2B5EF4-FFF2-40B4-BE49-F238E27FC236}">
                <a16:creationId xmlns:a16="http://schemas.microsoft.com/office/drawing/2014/main" id="{EB30768D-2108-4A6F-86C6-EBDC901DEFEA}"/>
              </a:ext>
            </a:extLst>
          </p:cNvPr>
          <p:cNvSpPr>
            <a:spLocks xmlns:a="http://schemas.openxmlformats.org/drawingml/2006/main" noGrp="1"/>
          </p:cNvSpPr>
          <p:nvPr/>
        </p:nvSpPr>
        <p:spPr>
          <a:xfrm xmlns:a="http://schemas.openxmlformats.org/drawingml/2006/main">
            <a:off x="6419850" y="3848100"/>
            <a:ext cx="20002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650" b="1">
                <a:solidFill>
                  <a:srgbClr val="101820"/>
                </a:solidFill>
              </a:defRPr>
            </a:pPr>
            <a:r>
              <a:rPr sz="1650" b="1">
                <a:solidFill>
                  <a:srgbClr val="101820"/>
                </a:solidFill>
              </a:rPr>
              <a:t>console errors</a:t>
            </a:r>
          </a:p>
        </p:txBody>
      </p:sp>
      <p:sp>
        <p:nvSpPr>
          <p:cNvPr id="19" name="">
            <a:extLst xmlns:a="http://schemas.openxmlformats.org/drawingml/2006/main">
              <a:ext uri="{FF2B5EF4-FFF2-40B4-BE49-F238E27FC236}">
                <a16:creationId xmlns:a16="http://schemas.microsoft.com/office/drawing/2014/main" id="{CC22FD33-542B-463F-BA1E-C586C278E285}"/>
              </a:ext>
            </a:extLst>
          </p:cNvPr>
          <p:cNvSpPr>
            <a:spLocks xmlns:a="http://schemas.openxmlformats.org/drawingml/2006/main" noGrp="1"/>
          </p:cNvSpPr>
          <p:nvPr/>
        </p:nvSpPr>
        <p:spPr>
          <a:xfrm xmlns:a="http://schemas.openxmlformats.org/drawingml/2006/main">
            <a:off x="6419850" y="4362450"/>
            <a:ext cx="1952625"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200" b="0">
                <a:solidFill>
                  <a:srgbClr val="65747F"/>
                </a:solidFill>
              </a:defRPr>
            </a:pPr>
            <a:r>
              <a:rPr sz="1200" b="0">
                <a:solidFill>
                  <a:srgbClr val="65747F"/>
                </a:solidFill>
              </a:rPr>
              <a:t>Full review and approval workflow</a:t>
            </a:r>
          </a:p>
        </p:txBody>
      </p:sp>
      <p:sp>
        <p:nvSpPr>
          <p:cNvPr id="20" name="">
            <a:extLst xmlns:a="http://schemas.openxmlformats.org/drawingml/2006/main">
              <a:ext uri="{FF2B5EF4-FFF2-40B4-BE49-F238E27FC236}">
                <a16:creationId xmlns:a16="http://schemas.microsoft.com/office/drawing/2014/main" id="{BFDF5955-E0D2-4C16-9D1F-D5DF5D18CE50}"/>
              </a:ext>
            </a:extLst>
          </p:cNvPr>
          <p:cNvSpPr>
            <a:spLocks xmlns:a="http://schemas.openxmlformats.org/drawingml/2006/main" noGrp="1"/>
          </p:cNvSpPr>
          <p:nvPr/>
        </p:nvSpPr>
        <p:spPr>
          <a:xfrm xmlns:a="http://schemas.openxmlformats.org/drawingml/2006/main">
            <a:off x="9029700" y="2505075"/>
            <a:ext cx="2457450" cy="2571750"/>
          </a:xfrm>
          <a:prstGeom xmlns:a="http://schemas.openxmlformats.org/drawingml/2006/main" prst="rect">
            <a:avLst/>
          </a:prstGeom>
          <a:solidFill xmlns:a="http://schemas.openxmlformats.org/drawingml/2006/main">
            <a:srgbClr val="F5F7F8"/>
          </a:solidFill>
          <a:ln xmlns:a="http://schemas.openxmlformats.org/drawingml/2006/main" w="9525">
            <a:solidFill>
              <a:srgbClr val="C8D1D7"/>
            </a:solidFill>
            <a:prstDash val="solid"/>
          </a:ln>
        </p:spPr>
      </p:sp>
      <p:sp>
        <p:nvSpPr>
          <p:cNvPr id="21" name="">
            <a:extLst xmlns:a="http://schemas.openxmlformats.org/drawingml/2006/main">
              <a:ext uri="{FF2B5EF4-FFF2-40B4-BE49-F238E27FC236}">
                <a16:creationId xmlns:a16="http://schemas.microsoft.com/office/drawing/2014/main" id="{020D8EC6-4CEE-49F9-A81E-C52DF9560CDD}"/>
              </a:ext>
            </a:extLst>
          </p:cNvPr>
          <p:cNvSpPr>
            <a:spLocks xmlns:a="http://schemas.openxmlformats.org/drawingml/2006/main" noGrp="1"/>
          </p:cNvSpPr>
          <p:nvPr/>
        </p:nvSpPr>
        <p:spPr>
          <a:xfrm xmlns:a="http://schemas.openxmlformats.org/drawingml/2006/main">
            <a:off x="9029700" y="2505075"/>
            <a:ext cx="2457450" cy="76200"/>
          </a:xfrm>
          <a:prstGeom xmlns:a="http://schemas.openxmlformats.org/drawingml/2006/main" prst="rect">
            <a:avLst/>
          </a:prstGeom>
          <a:solidFill xmlns:a="http://schemas.openxmlformats.org/drawingml/2006/main">
            <a:srgbClr val="101820"/>
          </a:solidFill>
          <a:ln xmlns:a="http://schemas.openxmlformats.org/drawingml/2006/main" w="0">
            <a:solidFill>
              <a:srgbClr val="101820"/>
            </a:solidFill>
            <a:prstDash val="solid"/>
          </a:ln>
        </p:spPr>
      </p:sp>
      <p:sp>
        <p:nvSpPr>
          <p:cNvPr id="22" name="">
            <a:extLst xmlns:a="http://schemas.openxmlformats.org/drawingml/2006/main">
              <a:ext uri="{FF2B5EF4-FFF2-40B4-BE49-F238E27FC236}">
                <a16:creationId xmlns:a16="http://schemas.microsoft.com/office/drawing/2014/main" id="{291086D4-7F58-4BEA-B416-A24A877AC8F8}"/>
              </a:ext>
            </a:extLst>
          </p:cNvPr>
          <p:cNvSpPr>
            <a:spLocks xmlns:a="http://schemas.openxmlformats.org/drawingml/2006/main" noGrp="1"/>
          </p:cNvSpPr>
          <p:nvPr/>
        </p:nvSpPr>
        <p:spPr>
          <a:xfrm xmlns:a="http://schemas.openxmlformats.org/drawingml/2006/main">
            <a:off x="9258300" y="2886075"/>
            <a:ext cx="2000250" cy="876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5250" b="1">
                <a:solidFill>
                  <a:srgbClr val="101820"/>
                </a:solidFill>
              </a:defRPr>
            </a:pPr>
            <a:r>
              <a:rPr sz="5250" b="1">
                <a:solidFill>
                  <a:srgbClr val="101820"/>
                </a:solidFill>
              </a:rPr>
              <a:t>200</a:t>
            </a:r>
          </a:p>
        </p:txBody>
      </p:sp>
      <p:sp>
        <p:nvSpPr>
          <p:cNvPr id="23" name="">
            <a:extLst xmlns:a="http://schemas.openxmlformats.org/drawingml/2006/main">
              <a:ext uri="{FF2B5EF4-FFF2-40B4-BE49-F238E27FC236}">
                <a16:creationId xmlns:a16="http://schemas.microsoft.com/office/drawing/2014/main" id="{1777524F-95C8-4D83-9A65-F8F6189225F8}"/>
              </a:ext>
            </a:extLst>
          </p:cNvPr>
          <p:cNvSpPr>
            <a:spLocks xmlns:a="http://schemas.openxmlformats.org/drawingml/2006/main" noGrp="1"/>
          </p:cNvSpPr>
          <p:nvPr/>
        </p:nvSpPr>
        <p:spPr>
          <a:xfrm xmlns:a="http://schemas.openxmlformats.org/drawingml/2006/main">
            <a:off x="9258300" y="3848100"/>
            <a:ext cx="20002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650" b="1">
                <a:solidFill>
                  <a:srgbClr val="101820"/>
                </a:solidFill>
              </a:defRPr>
            </a:pPr>
            <a:r>
              <a:rPr sz="1650" b="1">
                <a:solidFill>
                  <a:srgbClr val="101820"/>
                </a:solidFill>
              </a:rPr>
              <a:t>OpenAI response</a:t>
            </a:r>
          </a:p>
        </p:txBody>
      </p:sp>
      <p:sp>
        <p:nvSpPr>
          <p:cNvPr id="24" name="">
            <a:extLst xmlns:a="http://schemas.openxmlformats.org/drawingml/2006/main">
              <a:ext uri="{FF2B5EF4-FFF2-40B4-BE49-F238E27FC236}">
                <a16:creationId xmlns:a16="http://schemas.microsoft.com/office/drawing/2014/main" id="{C0876B4B-AF74-4365-ABA2-D659FDEE9C18}"/>
              </a:ext>
            </a:extLst>
          </p:cNvPr>
          <p:cNvSpPr>
            <a:spLocks xmlns:a="http://schemas.openxmlformats.org/drawingml/2006/main" noGrp="1"/>
          </p:cNvSpPr>
          <p:nvPr/>
        </p:nvSpPr>
        <p:spPr>
          <a:xfrm xmlns:a="http://schemas.openxmlformats.org/drawingml/2006/main">
            <a:off x="9258300" y="4362450"/>
            <a:ext cx="1952625"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200" b="0">
                <a:solidFill>
                  <a:srgbClr val="65747F"/>
                </a:solidFill>
              </a:defRPr>
            </a:pPr>
            <a:r>
              <a:rPr sz="1200" b="0">
                <a:solidFill>
                  <a:srgbClr val="65747F"/>
                </a:solidFill>
              </a:rPr>
              <a:t>Configured model call succeeded</a:t>
            </a:r>
          </a:p>
        </p:txBody>
      </p:sp>
      <p:sp>
        <p:nvSpPr>
          <p:cNvPr id="25" name="">
            <a:extLst xmlns:a="http://schemas.openxmlformats.org/drawingml/2006/main">
              <a:ext uri="{FF2B5EF4-FFF2-40B4-BE49-F238E27FC236}">
                <a16:creationId xmlns:a16="http://schemas.microsoft.com/office/drawing/2014/main" id="{5A0B9C39-3291-462A-B78C-30F74D025CB9}"/>
              </a:ext>
            </a:extLst>
          </p:cNvPr>
          <p:cNvSpPr>
            <a:spLocks xmlns:a="http://schemas.openxmlformats.org/drawingml/2006/main" noGrp="1"/>
          </p:cNvSpPr>
          <p:nvPr/>
        </p:nvSpPr>
        <p:spPr>
          <a:xfrm xmlns:a="http://schemas.openxmlformats.org/drawingml/2006/main">
            <a:off x="514350" y="5410200"/>
            <a:ext cx="10972800" cy="609600"/>
          </a:xfrm>
          <a:prstGeom xmlns:a="http://schemas.openxmlformats.org/drawingml/2006/main" prst="rect">
            <a:avLst/>
          </a:prstGeom>
          <a:solidFill xmlns:a="http://schemas.openxmlformats.org/drawingml/2006/main">
            <a:srgbClr val="101820"/>
          </a:solidFill>
          <a:ln xmlns:a="http://schemas.openxmlformats.org/drawingml/2006/main" w="0">
            <a:solidFill>
              <a:srgbClr val="101820"/>
            </a:solidFill>
            <a:prstDash val="solid"/>
          </a:ln>
        </p:spPr>
      </p:sp>
      <p:sp>
        <p:nvSpPr>
          <p:cNvPr id="26" name="">
            <a:extLst xmlns:a="http://schemas.openxmlformats.org/drawingml/2006/main">
              <a:ext uri="{FF2B5EF4-FFF2-40B4-BE49-F238E27FC236}">
                <a16:creationId xmlns:a16="http://schemas.microsoft.com/office/drawing/2014/main" id="{0C85CB9D-CB09-4E20-8D92-EA43FD8DFC5D}"/>
              </a:ext>
            </a:extLst>
          </p:cNvPr>
          <p:cNvSpPr>
            <a:spLocks xmlns:a="http://schemas.openxmlformats.org/drawingml/2006/main" noGrp="1"/>
          </p:cNvSpPr>
          <p:nvPr/>
        </p:nvSpPr>
        <p:spPr>
          <a:xfrm xmlns:a="http://schemas.openxmlformats.org/drawingml/2006/main">
            <a:off x="742950" y="5610225"/>
            <a:ext cx="2667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125" b="1">
                <a:solidFill>
                  <a:srgbClr val="25845F"/>
                </a:solidFill>
              </a:defRPr>
            </a:pPr>
            <a:r>
              <a:rPr sz="1125" b="1">
                <a:solidFill>
                  <a:srgbClr val="25845F"/>
                </a:solidFill>
              </a:rPr>
              <a:t>WORKING END TO END</a:t>
            </a:r>
          </a:p>
        </p:txBody>
      </p:sp>
      <p:sp>
        <p:nvSpPr>
          <p:cNvPr id="27" name="">
            <a:extLst xmlns:a="http://schemas.openxmlformats.org/drawingml/2006/main">
              <a:ext uri="{FF2B5EF4-FFF2-40B4-BE49-F238E27FC236}">
                <a16:creationId xmlns:a16="http://schemas.microsoft.com/office/drawing/2014/main" id="{AEDE6CE3-1036-47F7-956E-D1518EF0B95D}"/>
              </a:ext>
            </a:extLst>
          </p:cNvPr>
          <p:cNvSpPr>
            <a:spLocks xmlns:a="http://schemas.openxmlformats.org/drawingml/2006/main" noGrp="1"/>
          </p:cNvSpPr>
          <p:nvPr/>
        </p:nvSpPr>
        <p:spPr>
          <a:xfrm xmlns:a="http://schemas.openxmlformats.org/drawingml/2006/main">
            <a:off x="3667125" y="5581650"/>
            <a:ext cx="7429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r">
              <a:defRPr sz="1350" b="0">
                <a:solidFill>
                  <a:srgbClr val="FFFFFF"/>
                </a:solidFill>
              </a:defRPr>
            </a:pPr>
            <a:r>
              <a:rPr sz="1350" b="0">
                <a:solidFill>
                  <a:srgbClr val="FFFFFF"/>
                </a:solidFill>
              </a:rPr>
              <a:t>FastAPI  •  structured AI output  •  safe URL ingestion  •  editorial approval</a:t>
            </a:r>
          </a:p>
        </p:txBody>
      </p:sp>
      <p:sp>
        <p:nvSpPr>
          <p:cNvPr id="28" name="">
            <a:extLst xmlns:a="http://schemas.openxmlformats.org/drawingml/2006/main">
              <a:ext uri="{FF2B5EF4-FFF2-40B4-BE49-F238E27FC236}">
                <a16:creationId xmlns:a16="http://schemas.microsoft.com/office/drawing/2014/main" id="{5B7A3ADE-8FE4-4AA4-9A9D-C6D665ED3217}"/>
              </a:ext>
            </a:extLst>
          </p:cNvPr>
          <p:cNvSpPr>
            <a:spLocks xmlns:a="http://schemas.openxmlformats.org/drawingml/2006/main" noGrp="1"/>
          </p:cNvSpPr>
          <p:nvPr/>
        </p:nvSpPr>
        <p:spPr>
          <a:xfrm xmlns:a="http://schemas.openxmlformats.org/drawingml/2006/main">
            <a:off x="514350" y="6515100"/>
            <a:ext cx="40957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900" b="1">
                <a:solidFill>
                  <a:srgbClr val="65747F"/>
                </a:solidFill>
              </a:defRPr>
            </a:pPr>
            <a:r>
              <a:rPr sz="900" b="1">
                <a:solidFill>
                  <a:srgbClr val="65747F"/>
                </a:solidFill>
              </a:rPr>
              <a:t>LIVEBRIEF  /  EPITECH HACKATHON</a:t>
            </a:r>
          </a:p>
        </p:txBody>
      </p:sp>
      <p:sp>
        <p:nvSpPr>
          <p:cNvPr id="29" name="">
            <a:extLst xmlns:a="http://schemas.openxmlformats.org/drawingml/2006/main">
              <a:ext uri="{FF2B5EF4-FFF2-40B4-BE49-F238E27FC236}">
                <a16:creationId xmlns:a16="http://schemas.microsoft.com/office/drawing/2014/main" id="{EB3F12CE-BCAE-4B1C-9C65-35DA0FA3F2A2}"/>
              </a:ext>
            </a:extLst>
          </p:cNvPr>
          <p:cNvSpPr>
            <a:spLocks xmlns:a="http://schemas.openxmlformats.org/drawingml/2006/main" noGrp="1"/>
          </p:cNvSpPr>
          <p:nvPr/>
        </p:nvSpPr>
        <p:spPr>
          <a:xfrm xmlns:a="http://schemas.openxmlformats.org/drawingml/2006/main">
            <a:off x="11334750" y="6496050"/>
            <a:ext cx="3429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r">
              <a:defRPr sz="900" b="1">
                <a:solidFill>
                  <a:srgbClr val="65747F"/>
                </a:solidFill>
              </a:defRPr>
            </a:pPr>
            <a:r>
              <a:rPr sz="900" b="1">
                <a:solidFill>
                  <a:srgbClr val="65747F"/>
                </a:solidFill>
              </a:rPr>
              <a:t>06</a:t>
            </a:r>
          </a:p>
        </p:txBody>
      </p:sp>
    </p:spTree>
    <p:extLst>
      <p:ext uri="{BB962C8B-B14F-4D97-AF65-F5344CB8AC3E}">
        <p14:creationId xmlns:p14="http://schemas.microsoft.com/office/powerpoint/2010/main" val="2098057495"/>
      </p:ext>
    </p:extLst>
  </p:cSld>
</p:sld>
</file>

<file path=ppt/slides/slide7.xml><?xml version="1.0" encoding="utf-8"?>
<p:sld xmlns:p="http://schemas.openxmlformats.org/presentationml/2006/main">
  <p:cSld>
    <p:bg>
      <p:bgPr>
        <a:solidFill xmlns:a="http://schemas.openxmlformats.org/drawingml/2006/main">
          <a:srgbClr val="07131D"/>
        </a:solidFill>
      </p:bgPr>
    </p:bg>
    <p:spTree>
      <p:nvGrpSpPr>
        <p:cNvPr id="1" name=""/>
        <p:cNvGrpSpPr/>
        <p:nvPr/>
      </p:nvGrpSpPr>
      <p:grpSpPr>
        <a:xfrm xmlns:a="http://schemas.openxmlformats.org/drawingml/2006/main"/>
      </p:grpSpPr>
      <p:sp>
        <p:nvSpPr>
          <p:cNvPr id="1" name="">
            <a:extLst xmlns:a="http://schemas.openxmlformats.org/drawingml/2006/main">
              <a:ext uri="{FF2B5EF4-FFF2-40B4-BE49-F238E27FC236}">
                <a16:creationId xmlns:a16="http://schemas.microsoft.com/office/drawing/2014/main" id="{6949D32E-5011-4415-8A2A-0ABA3B4645C8}"/>
              </a:ext>
            </a:extLst>
          </p:cNvPr>
          <p:cNvSpPr>
            <a:spLocks xmlns:a="http://schemas.openxmlformats.org/drawingml/2006/main" noGrp="1"/>
          </p:cNvSpPr>
          <p:nvPr/>
        </p:nvSpPr>
        <p:spPr>
          <a:xfrm xmlns:a="http://schemas.openxmlformats.org/drawingml/2006/main">
            <a:off x="0" y="0"/>
            <a:ext cx="171450" cy="6858000"/>
          </a:xfrm>
          <a:prstGeom xmlns:a="http://schemas.openxmlformats.org/drawingml/2006/main" prst="rect">
            <a:avLst/>
          </a:prstGeom>
          <a:solidFill xmlns:a="http://schemas.openxmlformats.org/drawingml/2006/main">
            <a:srgbClr val="F0642B"/>
          </a:solidFill>
          <a:ln xmlns:a="http://schemas.openxmlformats.org/drawingml/2006/main" w="0">
            <a:solidFill>
              <a:srgbClr val="F0642B"/>
            </a:solidFill>
            <a:prstDash val="solid"/>
          </a:ln>
        </p:spPr>
      </p:sp>
      <p:sp>
        <p:nvSpPr>
          <p:cNvPr id="2" name="">
            <a:extLst xmlns:a="http://schemas.openxmlformats.org/drawingml/2006/main">
              <a:ext uri="{FF2B5EF4-FFF2-40B4-BE49-F238E27FC236}">
                <a16:creationId xmlns:a16="http://schemas.microsoft.com/office/drawing/2014/main" id="{6A79879E-CFE0-4634-86D5-9E613F7BC858}"/>
              </a:ext>
            </a:extLst>
          </p:cNvPr>
          <p:cNvSpPr>
            <a:spLocks xmlns:a="http://schemas.openxmlformats.org/drawingml/2006/main" noGrp="1"/>
          </p:cNvSpPr>
          <p:nvPr/>
        </p:nvSpPr>
        <p:spPr>
          <a:xfrm xmlns:a="http://schemas.openxmlformats.org/drawingml/2006/main">
            <a:off x="647700" y="533400"/>
            <a:ext cx="2476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125" b="1">
                <a:solidFill>
                  <a:srgbClr val="25845F"/>
                </a:solidFill>
              </a:defRPr>
            </a:pPr>
            <a:r>
              <a:rPr sz="1125" b="1">
                <a:solidFill>
                  <a:srgbClr val="25845F"/>
                </a:solidFill>
              </a:rPr>
              <a:t>LIVEBRIEF</a:t>
            </a:r>
          </a:p>
        </p:txBody>
      </p:sp>
      <p:sp>
        <p:nvSpPr>
          <p:cNvPr id="3" name="">
            <a:extLst xmlns:a="http://schemas.openxmlformats.org/drawingml/2006/main">
              <a:ext uri="{FF2B5EF4-FFF2-40B4-BE49-F238E27FC236}">
                <a16:creationId xmlns:a16="http://schemas.microsoft.com/office/drawing/2014/main" id="{899BDB27-8468-4526-B6BF-A38DC42635BD}"/>
              </a:ext>
            </a:extLst>
          </p:cNvPr>
          <p:cNvSpPr>
            <a:spLocks xmlns:a="http://schemas.openxmlformats.org/drawingml/2006/main" noGrp="1"/>
          </p:cNvSpPr>
          <p:nvPr/>
        </p:nvSpPr>
        <p:spPr>
          <a:xfrm xmlns:a="http://schemas.openxmlformats.org/drawingml/2006/main">
            <a:off x="647700" y="1352550"/>
            <a:ext cx="10001250" cy="1638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4950" b="1">
                <a:solidFill>
                  <a:srgbClr val="FFFFFF"/>
                </a:solidFill>
              </a:defRPr>
            </a:pPr>
            <a:r>
              <a:rPr sz="4950" b="1">
                <a:solidFill>
                  <a:srgbClr val="FFFFFF"/>
                </a:solidFill>
              </a:rPr>
              <a:t>Faster verification</a:t>
            </a:r>
          </a:p>
          <a:p xmlns:a="http://schemas.openxmlformats.org/drawingml/2006/main">
            <a:pPr algn="l">
              <a:defRPr sz="4950" b="1">
                <a:solidFill>
                  <a:srgbClr val="FFFFFF"/>
                </a:solidFill>
              </a:defRPr>
            </a:pPr>
            <a:r>
              <a:rPr sz="4950" b="1">
                <a:solidFill>
                  <a:srgbClr val="FFFFFF"/>
                </a:solidFill>
              </a:rPr>
              <a:t>without giving up judgment.</a:t>
            </a:r>
          </a:p>
        </p:txBody>
      </p:sp>
      <p:sp>
        <p:nvSpPr>
          <p:cNvPr id="4" name="">
            <a:extLst xmlns:a="http://schemas.openxmlformats.org/drawingml/2006/main">
              <a:ext uri="{FF2B5EF4-FFF2-40B4-BE49-F238E27FC236}">
                <a16:creationId xmlns:a16="http://schemas.microsoft.com/office/drawing/2014/main" id="{D4D4C796-6B21-42B9-AC06-1466DCFBCE3B}"/>
              </a:ext>
            </a:extLst>
          </p:cNvPr>
          <p:cNvSpPr>
            <a:spLocks xmlns:a="http://schemas.openxmlformats.org/drawingml/2006/main" noGrp="1"/>
          </p:cNvSpPr>
          <p:nvPr/>
        </p:nvSpPr>
        <p:spPr>
          <a:xfrm xmlns:a="http://schemas.openxmlformats.org/drawingml/2006/main">
            <a:off x="647700" y="3448050"/>
            <a:ext cx="1714500" cy="57150"/>
          </a:xfrm>
          <a:prstGeom xmlns:a="http://schemas.openxmlformats.org/drawingml/2006/main" prst="rect">
            <a:avLst/>
          </a:prstGeom>
          <a:solidFill xmlns:a="http://schemas.openxmlformats.org/drawingml/2006/main">
            <a:srgbClr val="F0642B"/>
          </a:solidFill>
          <a:ln xmlns:a="http://schemas.openxmlformats.org/drawingml/2006/main" w="0">
            <a:solidFill>
              <a:srgbClr val="F0642B"/>
            </a:solidFill>
            <a:prstDash val="solid"/>
          </a:ln>
        </p:spPr>
      </p:sp>
      <p:sp>
        <p:nvSpPr>
          <p:cNvPr id="5" name="">
            <a:extLst xmlns:a="http://schemas.openxmlformats.org/drawingml/2006/main">
              <a:ext uri="{FF2B5EF4-FFF2-40B4-BE49-F238E27FC236}">
                <a16:creationId xmlns:a16="http://schemas.microsoft.com/office/drawing/2014/main" id="{B5EF1561-99EB-4848-B41D-400D31B56DD3}"/>
              </a:ext>
            </a:extLst>
          </p:cNvPr>
          <p:cNvSpPr>
            <a:spLocks xmlns:a="http://schemas.openxmlformats.org/drawingml/2006/main" noGrp="1"/>
          </p:cNvSpPr>
          <p:nvPr/>
        </p:nvSpPr>
        <p:spPr>
          <a:xfrm xmlns:a="http://schemas.openxmlformats.org/drawingml/2006/main">
            <a:off x="647700" y="3905250"/>
            <a:ext cx="30480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2025" b="1">
                <a:solidFill>
                  <a:srgbClr val="C9D5DC"/>
                </a:solidFill>
              </a:defRPr>
            </a:pPr>
            <a:r>
              <a:rPr sz="2025" b="1">
                <a:solidFill>
                  <a:srgbClr val="C9D5DC"/>
                </a:solidFill>
              </a:rPr>
              <a:t>Visible claims.</a:t>
            </a:r>
          </a:p>
        </p:txBody>
      </p:sp>
      <p:sp>
        <p:nvSpPr>
          <p:cNvPr id="6" name="">
            <a:extLst xmlns:a="http://schemas.openxmlformats.org/drawingml/2006/main">
              <a:ext uri="{FF2B5EF4-FFF2-40B4-BE49-F238E27FC236}">
                <a16:creationId xmlns:a16="http://schemas.microsoft.com/office/drawing/2014/main" id="{4CB670C7-2704-481C-A24F-4C997835F899}"/>
              </a:ext>
            </a:extLst>
          </p:cNvPr>
          <p:cNvSpPr>
            <a:spLocks xmlns:a="http://schemas.openxmlformats.org/drawingml/2006/main" noGrp="1"/>
          </p:cNvSpPr>
          <p:nvPr/>
        </p:nvSpPr>
        <p:spPr>
          <a:xfrm xmlns:a="http://schemas.openxmlformats.org/drawingml/2006/main">
            <a:off x="3810000" y="3905250"/>
            <a:ext cx="30480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2025" b="1">
                <a:solidFill>
                  <a:srgbClr val="C9D5DC"/>
                </a:solidFill>
              </a:defRPr>
            </a:pPr>
            <a:r>
              <a:rPr sz="2025" b="1">
                <a:solidFill>
                  <a:srgbClr val="C9D5DC"/>
                </a:solidFill>
              </a:rPr>
              <a:t>Visible conflicts.</a:t>
            </a:r>
          </a:p>
        </p:txBody>
      </p:sp>
      <p:sp>
        <p:nvSpPr>
          <p:cNvPr id="7" name="">
            <a:extLst xmlns:a="http://schemas.openxmlformats.org/drawingml/2006/main">
              <a:ext uri="{FF2B5EF4-FFF2-40B4-BE49-F238E27FC236}">
                <a16:creationId xmlns:a16="http://schemas.microsoft.com/office/drawing/2014/main" id="{1CB1D95A-CCC3-4C68-B419-3BC48BA33FF3}"/>
              </a:ext>
            </a:extLst>
          </p:cNvPr>
          <p:cNvSpPr>
            <a:spLocks xmlns:a="http://schemas.openxmlformats.org/drawingml/2006/main" noGrp="1"/>
          </p:cNvSpPr>
          <p:nvPr/>
        </p:nvSpPr>
        <p:spPr>
          <a:xfrm xmlns:a="http://schemas.openxmlformats.org/drawingml/2006/main">
            <a:off x="6972300" y="3905250"/>
            <a:ext cx="40005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2025" b="1">
                <a:solidFill>
                  <a:srgbClr val="25845F"/>
                </a:solidFill>
              </a:defRPr>
            </a:pPr>
            <a:r>
              <a:rPr sz="2025" b="1">
                <a:solidFill>
                  <a:srgbClr val="25845F"/>
                </a:solidFill>
              </a:rPr>
              <a:t>Human-approved copy.</a:t>
            </a:r>
          </a:p>
        </p:txBody>
      </p:sp>
      <p:sp>
        <p:nvSpPr>
          <p:cNvPr id="8" name="">
            <a:extLst xmlns:a="http://schemas.openxmlformats.org/drawingml/2006/main">
              <a:ext uri="{FF2B5EF4-FFF2-40B4-BE49-F238E27FC236}">
                <a16:creationId xmlns:a16="http://schemas.microsoft.com/office/drawing/2014/main" id="{5C1BEC41-7171-4DDE-938F-C1E1739178BB}"/>
              </a:ext>
            </a:extLst>
          </p:cNvPr>
          <p:cNvSpPr>
            <a:spLocks xmlns:a="http://schemas.openxmlformats.org/drawingml/2006/main" noGrp="1"/>
          </p:cNvSpPr>
          <p:nvPr/>
        </p:nvSpPr>
        <p:spPr>
          <a:xfrm xmlns:a="http://schemas.openxmlformats.org/drawingml/2006/main">
            <a:off x="647700" y="4914900"/>
            <a:ext cx="10858500" cy="9525"/>
          </a:xfrm>
          <a:prstGeom xmlns:a="http://schemas.openxmlformats.org/drawingml/2006/main" prst="rect">
            <a:avLst/>
          </a:prstGeom>
          <a:solidFill xmlns:a="http://schemas.openxmlformats.org/drawingml/2006/main">
            <a:srgbClr val="304653"/>
          </a:solidFill>
          <a:ln xmlns:a="http://schemas.openxmlformats.org/drawingml/2006/main" w="0">
            <a:solidFill>
              <a:srgbClr val="304653"/>
            </a:solidFill>
            <a:prstDash val="solid"/>
          </a:ln>
        </p:spPr>
      </p:sp>
      <p:sp>
        <p:nvSpPr>
          <p:cNvPr id="9" name="">
            <a:extLst xmlns:a="http://schemas.openxmlformats.org/drawingml/2006/main">
              <a:ext uri="{FF2B5EF4-FFF2-40B4-BE49-F238E27FC236}">
                <a16:creationId xmlns:a16="http://schemas.microsoft.com/office/drawing/2014/main" id="{CF9511F7-634B-4925-B546-02B840C6D6E0}"/>
              </a:ext>
            </a:extLst>
          </p:cNvPr>
          <p:cNvSpPr>
            <a:spLocks xmlns:a="http://schemas.openxmlformats.org/drawingml/2006/main" noGrp="1"/>
          </p:cNvSpPr>
          <p:nvPr/>
        </p:nvSpPr>
        <p:spPr>
          <a:xfrm xmlns:a="http://schemas.openxmlformats.org/drawingml/2006/main">
            <a:off x="647700" y="5295900"/>
            <a:ext cx="66675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875" b="0">
                <a:solidFill>
                  <a:srgbClr val="A8BBC7"/>
                </a:solidFill>
              </a:defRPr>
            </a:pPr>
            <a:r>
              <a:rPr sz="1875" b="0">
                <a:solidFill>
                  <a:srgbClr val="A8BBC7"/>
                </a:solidFill>
              </a:rPr>
              <a:t>LiveBrief does not replace the journalist.</a:t>
            </a:r>
          </a:p>
        </p:txBody>
      </p:sp>
      <p:sp>
        <p:nvSpPr>
          <p:cNvPr id="10" name="">
            <a:extLst xmlns:a="http://schemas.openxmlformats.org/drawingml/2006/main">
              <a:ext uri="{FF2B5EF4-FFF2-40B4-BE49-F238E27FC236}">
                <a16:creationId xmlns:a16="http://schemas.microsoft.com/office/drawing/2014/main" id="{B7FBFB4C-993F-42A3-803D-DD9CD30D42B5}"/>
              </a:ext>
            </a:extLst>
          </p:cNvPr>
          <p:cNvSpPr>
            <a:spLocks xmlns:a="http://schemas.openxmlformats.org/drawingml/2006/main" noGrp="1"/>
          </p:cNvSpPr>
          <p:nvPr/>
        </p:nvSpPr>
        <p:spPr>
          <a:xfrm xmlns:a="http://schemas.openxmlformats.org/drawingml/2006/main">
            <a:off x="647700" y="5753100"/>
            <a:ext cx="84772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2250" b="1">
                <a:solidFill>
                  <a:srgbClr val="FFFFFF"/>
                </a:solidFill>
              </a:defRPr>
            </a:pPr>
            <a:r>
              <a:rPr sz="2250" b="1">
                <a:solidFill>
                  <a:srgbClr val="FFFFFF"/>
                </a:solidFill>
              </a:rPr>
              <a:t>It gives the journalist a better verification desk.</a:t>
            </a:r>
          </a:p>
        </p:txBody>
      </p:sp>
      <p:sp>
        <p:nvSpPr>
          <p:cNvPr id="11" name="">
            <a:extLst xmlns:a="http://schemas.openxmlformats.org/drawingml/2006/main">
              <a:ext uri="{FF2B5EF4-FFF2-40B4-BE49-F238E27FC236}">
                <a16:creationId xmlns:a16="http://schemas.microsoft.com/office/drawing/2014/main" id="{3100CF4B-1BF0-4A11-A8CD-75BF149FE896}"/>
              </a:ext>
            </a:extLst>
          </p:cNvPr>
          <p:cNvSpPr>
            <a:spLocks xmlns:a="http://schemas.openxmlformats.org/drawingml/2006/main" noGrp="1"/>
          </p:cNvSpPr>
          <p:nvPr/>
        </p:nvSpPr>
        <p:spPr>
          <a:xfrm xmlns:a="http://schemas.openxmlformats.org/drawingml/2006/main">
            <a:off x="11087100" y="6096000"/>
            <a:ext cx="4191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r">
              <a:defRPr sz="1050" b="1">
                <a:solidFill>
                  <a:srgbClr val="718692"/>
                </a:solidFill>
              </a:defRPr>
            </a:pPr>
            <a:r>
              <a:rPr sz="1050" b="1">
                <a:solidFill>
                  <a:srgbClr val="718692"/>
                </a:solidFill>
              </a:rPr>
              <a:t>07</a:t>
            </a:r>
          </a:p>
        </p:txBody>
      </p:sp>
    </p:spTree>
    <p:extLst>
      <p:ext uri="{BB962C8B-B14F-4D97-AF65-F5344CB8AC3E}">
        <p14:creationId xmlns:p14="http://schemas.microsoft.com/office/powerpoint/2010/main" val="1204871356"/>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2026-07-09T07:02:29.5010000Z</dcterms:created>
  <dcterms:modified xsi:type="dcterms:W3CDTF">2026-07-09T07:02:29.5010000Z</dcterms:modified>
</coreProperties>
</file>